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43"/>
  </p:notesMasterIdLst>
  <p:sldIdLst>
    <p:sldId id="267" r:id="rId5"/>
    <p:sldId id="327" r:id="rId6"/>
    <p:sldId id="318" r:id="rId7"/>
    <p:sldId id="303" r:id="rId8"/>
    <p:sldId id="304" r:id="rId9"/>
    <p:sldId id="332" r:id="rId10"/>
    <p:sldId id="343" r:id="rId11"/>
    <p:sldId id="330" r:id="rId12"/>
    <p:sldId id="326" r:id="rId13"/>
    <p:sldId id="328" r:id="rId14"/>
    <p:sldId id="333" r:id="rId15"/>
    <p:sldId id="315" r:id="rId16"/>
    <p:sldId id="305" r:id="rId17"/>
    <p:sldId id="335" r:id="rId18"/>
    <p:sldId id="307" r:id="rId19"/>
    <p:sldId id="329" r:id="rId20"/>
    <p:sldId id="334" r:id="rId21"/>
    <p:sldId id="338" r:id="rId22"/>
    <p:sldId id="339" r:id="rId23"/>
    <p:sldId id="340" r:id="rId24"/>
    <p:sldId id="341" r:id="rId25"/>
    <p:sldId id="308" r:id="rId26"/>
    <p:sldId id="309" r:id="rId27"/>
    <p:sldId id="310" r:id="rId28"/>
    <p:sldId id="311" r:id="rId29"/>
    <p:sldId id="316" r:id="rId30"/>
    <p:sldId id="313" r:id="rId31"/>
    <p:sldId id="337" r:id="rId32"/>
    <p:sldId id="336" r:id="rId33"/>
    <p:sldId id="314" r:id="rId34"/>
    <p:sldId id="317" r:id="rId35"/>
    <p:sldId id="321" r:id="rId36"/>
    <p:sldId id="319" r:id="rId37"/>
    <p:sldId id="320" r:id="rId38"/>
    <p:sldId id="324" r:id="rId39"/>
    <p:sldId id="325" r:id="rId40"/>
    <p:sldId id="322" r:id="rId41"/>
    <p:sldId id="331" r:id="rId42"/>
  </p:sldIdLst>
  <p:sldSz cx="12192000" cy="6858000"/>
  <p:notesSz cx="6858000" cy="9144000"/>
  <p:embeddedFontLst>
    <p:embeddedFont>
      <p:font typeface="Assistant" pitchFamily="2" charset="-79"/>
      <p:regular r:id="rId44"/>
      <p:bold r:id="rId45"/>
    </p:embeddedFont>
    <p:embeddedFont>
      <p:font typeface="Cambria Math" panose="02040503050406030204" pitchFamily="18" charset="0"/>
      <p:regular r:id="rId46"/>
    </p:embeddedFont>
    <p:embeddedFont>
      <p:font typeface="Nunito" pitchFamily="2" charset="77"/>
      <p:regular r:id="rId47"/>
      <p:bold r:id="rId48"/>
      <p:italic r:id="rId49"/>
      <p:boldItalic r:id="rId5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5C62D9-56D0-964D-B5CC-6ED8CE7DCF7B}" v="112" dt="2026-09-21T09:10:39.7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42"/>
    <p:restoredTop sz="91301"/>
  </p:normalViewPr>
  <p:slideViewPr>
    <p:cSldViewPr snapToGrid="0">
      <p:cViewPr varScale="1">
        <p:scale>
          <a:sx n="124" d="100"/>
          <a:sy n="124" d="100"/>
        </p:scale>
        <p:origin x="-2408" y="-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55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font" Target="fonts/font2.fntdata"/><Relationship Id="rId53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1.fntdata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5.fntdata"/><Relationship Id="rId8" Type="http://schemas.openxmlformats.org/officeDocument/2006/relationships/slide" Target="slides/slide4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3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4833CD-BD81-1E4C-8B73-C6C939F9FC25}" type="datetimeFigureOut">
              <a:rPr lang="en-NL" smtClean="0"/>
              <a:t>14/09/2026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959ABA-ED19-9146-9E8E-7EB9CC9D708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38673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x</a:t>
            </a:r>
            <a:r>
              <a:rPr lang="en-NL" dirty="0"/>
              <a:t>1 … xn and w1 … wn are individual numbers, combined to a weighted sum</a:t>
            </a:r>
          </a:p>
          <a:p>
            <a:r>
              <a:rPr lang="en-NL" dirty="0"/>
              <a:t>The activation function produces the final output of the neuron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959ABA-ED19-9146-9E8E-7EB9CC9D7085}" type="slidenum">
              <a:rPr lang="en-NL" smtClean="0"/>
              <a:t>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206744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L" dirty="0"/>
              <a:t>Sigmoid: enforces the activation of a neuron to be between 0 and 1</a:t>
            </a:r>
          </a:p>
          <a:p>
            <a:r>
              <a:rPr lang="en-NL" dirty="0"/>
              <a:t>ReLu: introduces non-linearity in a computationally efficient way.</a:t>
            </a:r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959ABA-ED19-9146-9E8E-7EB9CC9D7085}" type="slidenum">
              <a:rPr lang="en-NL" smtClean="0"/>
              <a:t>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17269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FD9D1-049A-69EF-B490-EAFE085FF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66849E-9F20-62D7-3AA0-8697377C0E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D643AF-9A9C-5A73-E335-980ABB2515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x</a:t>
            </a:r>
            <a:r>
              <a:rPr lang="en-NL" dirty="0"/>
              <a:t>1 … xn and w1 … wn are individual numbers, combined to a weighted sum</a:t>
            </a:r>
          </a:p>
          <a:p>
            <a:r>
              <a:rPr lang="en-NL" dirty="0"/>
              <a:t>The activation function produces the final output of the neuron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474F05-5825-57B9-F5A3-6E0C3B3FAE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959ABA-ED19-9146-9E8E-7EB9CC9D7085}" type="slidenum">
              <a:rPr lang="en-NL" smtClean="0"/>
              <a:t>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19825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L" dirty="0"/>
              <a:t>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959ABA-ED19-9146-9E8E-7EB9CC9D7085}" type="slidenum">
              <a:rPr lang="en-NL" smtClean="0"/>
              <a:t>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319807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959ABA-ED19-9146-9E8E-7EB9CC9D7085}" type="slidenum">
              <a:rPr lang="en-NL" smtClean="0"/>
              <a:t>15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112164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L" dirty="0"/>
              <a:t>The loss function quantifies the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959ABA-ED19-9146-9E8E-7EB9CC9D7085}" type="slidenum">
              <a:rPr lang="en-NL" smtClean="0"/>
              <a:t>16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351303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L" dirty="0"/>
              <a:t>A: non-Covid infection, B: Covid infection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959ABA-ED19-9146-9E8E-7EB9CC9D7085}" type="slidenum">
              <a:rPr lang="en-NL" smtClean="0"/>
              <a:t>18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005896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959ABA-ED19-9146-9E8E-7EB9CC9D7085}" type="slidenum">
              <a:rPr lang="en-NL" smtClean="0"/>
              <a:t>21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689297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959ABA-ED19-9146-9E8E-7EB9CC9D7085}" type="slidenum">
              <a:rPr lang="en-NL" smtClean="0"/>
              <a:t>28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726690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959ABA-ED19-9146-9E8E-7EB9CC9D7085}" type="slidenum">
              <a:rPr lang="en-NL" smtClean="0"/>
              <a:t>30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692446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959ABA-ED19-9146-9E8E-7EB9CC9D7085}" type="slidenum">
              <a:rPr lang="en-NL" smtClean="0"/>
              <a:t>33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945479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959ABA-ED19-9146-9E8E-7EB9CC9D7085}" type="slidenum">
              <a:rPr lang="en-NL" smtClean="0"/>
              <a:t>37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61609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DFD75-F66A-4849-8F04-1D4BCBEA84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43760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CFDA3F-E1B8-40BD-8CBB-3BE733B710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14240"/>
            <a:ext cx="9144000" cy="54356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A13D7-779E-4E56-AAA8-196B6D232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30EFB-AB28-4A68-9CF2-24FEA7CF3D98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FF56F3-B404-4155-829A-16CCD5902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0715F-5DAA-42CE-ADD5-D4D62E9EC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0EB9D-8EC8-4EF4-9A95-65EE5F6F8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131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DFD75-F66A-4849-8F04-1D4BCBEA84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43760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CFDA3F-E1B8-40BD-8CBB-3BE733B710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14240"/>
            <a:ext cx="9144000" cy="54356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A13D7-779E-4E56-AAA8-196B6D232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30EFB-AB28-4A68-9CF2-24FEA7CF3D98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FF56F3-B404-4155-829A-16CCD5902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0715F-5DAA-42CE-ADD5-D4D62E9EC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0EB9D-8EC8-4EF4-9A95-65EE5F6F8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364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60B84-5DEE-4871-BF64-E2FB63FD8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4654" y="1690688"/>
            <a:ext cx="4731989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5D5CE-1BC5-4E2D-AA5B-AC594DDEB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4654" y="3184071"/>
            <a:ext cx="4751615" cy="2076904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5F9CD-09B2-4288-8B0F-DFE0E5E61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30EFB-AB28-4A68-9CF2-24FEA7CF3D98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87B25-8A83-4C70-B2F1-C1832EC7B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8EA61-ADEF-44A4-A550-82FA30A08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0EB9D-8EC8-4EF4-9A95-65EE5F6F83A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kstvak 10">
            <a:extLst>
              <a:ext uri="{FF2B5EF4-FFF2-40B4-BE49-F238E27FC236}">
                <a16:creationId xmlns:a16="http://schemas.microsoft.com/office/drawing/2014/main" id="{2361BA08-5D63-425D-AF01-964BF01C0FC9}"/>
              </a:ext>
            </a:extLst>
          </p:cNvPr>
          <p:cNvSpPr txBox="1"/>
          <p:nvPr userDrawn="1"/>
        </p:nvSpPr>
        <p:spPr>
          <a:xfrm>
            <a:off x="7425549" y="2126754"/>
            <a:ext cx="370179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b="1" err="1">
                <a:latin typeface="Assistant" pitchFamily="2" charset="-79"/>
                <a:cs typeface="Assistant" pitchFamily="2" charset="-79"/>
              </a:rPr>
              <a:t>Principal</a:t>
            </a:r>
            <a:r>
              <a:rPr lang="nl-NL" sz="1600" b="1">
                <a:latin typeface="Assistant" pitchFamily="2" charset="-79"/>
                <a:cs typeface="Assistant" pitchFamily="2" charset="-79"/>
              </a:rPr>
              <a:t> investigator</a:t>
            </a:r>
          </a:p>
          <a:p>
            <a:r>
              <a:rPr lang="nl-NL" sz="1600">
                <a:latin typeface="Assistant" pitchFamily="2" charset="-79"/>
                <a:cs typeface="Assistant" pitchFamily="2" charset="-79"/>
              </a:rPr>
              <a:t>Name</a:t>
            </a:r>
          </a:p>
          <a:p>
            <a:r>
              <a:rPr lang="nl-NL" sz="1600" err="1">
                <a:latin typeface="Assistant" pitchFamily="2" charset="-79"/>
                <a:cs typeface="Assistant" pitchFamily="2" charset="-79"/>
              </a:rPr>
              <a:t>Affiliation</a:t>
            </a:r>
            <a:endParaRPr lang="nl-NL" sz="1600">
              <a:latin typeface="Assistant" pitchFamily="2" charset="-79"/>
              <a:cs typeface="Assistant" pitchFamily="2" charset="-79"/>
            </a:endParaRPr>
          </a:p>
          <a:p>
            <a:endParaRPr lang="nl-NL" sz="1600">
              <a:latin typeface="Assistant" pitchFamily="2" charset="-79"/>
              <a:cs typeface="Assistant" pitchFamily="2" charset="-79"/>
            </a:endParaRPr>
          </a:p>
          <a:p>
            <a:r>
              <a:rPr lang="nl-NL" sz="1600" b="1" err="1">
                <a:latin typeface="Assistant" pitchFamily="2" charset="-79"/>
                <a:cs typeface="Assistant" pitchFamily="2" charset="-79"/>
              </a:rPr>
              <a:t>eScience</a:t>
            </a:r>
            <a:r>
              <a:rPr lang="nl-NL" sz="1600" b="1">
                <a:latin typeface="Assistant" pitchFamily="2" charset="-79"/>
                <a:cs typeface="Assistant" pitchFamily="2" charset="-79"/>
              </a:rPr>
              <a:t> Research </a:t>
            </a:r>
            <a:r>
              <a:rPr lang="nl-NL" sz="1600" b="1" err="1">
                <a:latin typeface="Assistant" pitchFamily="2" charset="-79"/>
                <a:cs typeface="Assistant" pitchFamily="2" charset="-79"/>
              </a:rPr>
              <a:t>Coordinator</a:t>
            </a:r>
            <a:endParaRPr lang="nl-NL" sz="1600" b="1">
              <a:latin typeface="Assistant" pitchFamily="2" charset="-79"/>
              <a:cs typeface="Assistant" pitchFamily="2" charset="-79"/>
            </a:endParaRPr>
          </a:p>
          <a:p>
            <a:r>
              <a:rPr lang="nl-NL" sz="1600">
                <a:latin typeface="Assistant" pitchFamily="2" charset="-79"/>
                <a:cs typeface="Assistant" pitchFamily="2" charset="-79"/>
              </a:rPr>
              <a:t>Name</a:t>
            </a:r>
          </a:p>
          <a:p>
            <a:endParaRPr lang="nl-NL" sz="1600">
              <a:latin typeface="Assistant" pitchFamily="2" charset="-79"/>
              <a:cs typeface="Assistant" pitchFamily="2" charset="-79"/>
            </a:endParaRPr>
          </a:p>
          <a:p>
            <a:r>
              <a:rPr lang="nl-NL" sz="1600" b="1" err="1">
                <a:latin typeface="Assistant" pitchFamily="2" charset="-79"/>
                <a:cs typeface="Assistant" pitchFamily="2" charset="-79"/>
              </a:rPr>
              <a:t>eScience</a:t>
            </a:r>
            <a:endParaRPr lang="nl-NL" sz="1600" b="1">
              <a:latin typeface="Assistant" pitchFamily="2" charset="-79"/>
              <a:cs typeface="Assistant" pitchFamily="2" charset="-79"/>
            </a:endParaRPr>
          </a:p>
          <a:p>
            <a:r>
              <a:rPr lang="nl-NL" sz="1600">
                <a:latin typeface="Assistant" pitchFamily="2" charset="-79"/>
                <a:cs typeface="Assistant" pitchFamily="2" charset="-79"/>
              </a:rPr>
              <a:t>Name</a:t>
            </a:r>
          </a:p>
          <a:p>
            <a:r>
              <a:rPr lang="nl-NL" sz="1600">
                <a:latin typeface="Assistant" pitchFamily="2" charset="-79"/>
                <a:cs typeface="Assistant" pitchFamily="2" charset="-79"/>
              </a:rPr>
              <a:t>Name</a:t>
            </a:r>
          </a:p>
          <a:p>
            <a:r>
              <a:rPr lang="nl-NL" sz="1600">
                <a:latin typeface="Assistant" pitchFamily="2" charset="-79"/>
                <a:cs typeface="Assistant" pitchFamily="2" charset="-79"/>
              </a:rPr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3907664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60B84-5DEE-4871-BF64-E2FB63FD8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4654" y="1690688"/>
            <a:ext cx="4731989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5D5CE-1BC5-4E2D-AA5B-AC594DDEB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4654" y="3184071"/>
            <a:ext cx="4751615" cy="2076904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5F9CD-09B2-4288-8B0F-DFE0E5E61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30EFB-AB28-4A68-9CF2-24FEA7CF3D98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87B25-8A83-4C70-B2F1-C1832EC7B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8EA61-ADEF-44A4-A550-82FA30A08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0EB9D-8EC8-4EF4-9A95-65EE5F6F83A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kstvak 10">
            <a:extLst>
              <a:ext uri="{FF2B5EF4-FFF2-40B4-BE49-F238E27FC236}">
                <a16:creationId xmlns:a16="http://schemas.microsoft.com/office/drawing/2014/main" id="{2361BA08-5D63-425D-AF01-964BF01C0FC9}"/>
              </a:ext>
            </a:extLst>
          </p:cNvPr>
          <p:cNvSpPr txBox="1"/>
          <p:nvPr userDrawn="1"/>
        </p:nvSpPr>
        <p:spPr>
          <a:xfrm>
            <a:off x="7425549" y="2126754"/>
            <a:ext cx="370179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b="1" err="1">
                <a:latin typeface="Assistant" pitchFamily="2" charset="-79"/>
                <a:cs typeface="Assistant" pitchFamily="2" charset="-79"/>
              </a:rPr>
              <a:t>Principal</a:t>
            </a:r>
            <a:r>
              <a:rPr lang="nl-NL" sz="1600" b="1">
                <a:latin typeface="Assistant" pitchFamily="2" charset="-79"/>
                <a:cs typeface="Assistant" pitchFamily="2" charset="-79"/>
              </a:rPr>
              <a:t> investigator</a:t>
            </a:r>
          </a:p>
          <a:p>
            <a:r>
              <a:rPr lang="nl-NL" sz="1600">
                <a:latin typeface="Assistant" pitchFamily="2" charset="-79"/>
                <a:cs typeface="Assistant" pitchFamily="2" charset="-79"/>
              </a:rPr>
              <a:t>Name</a:t>
            </a:r>
          </a:p>
          <a:p>
            <a:r>
              <a:rPr lang="nl-NL" sz="1600" err="1">
                <a:latin typeface="Assistant" pitchFamily="2" charset="-79"/>
                <a:cs typeface="Assistant" pitchFamily="2" charset="-79"/>
              </a:rPr>
              <a:t>Affiliation</a:t>
            </a:r>
            <a:endParaRPr lang="nl-NL" sz="1600">
              <a:latin typeface="Assistant" pitchFamily="2" charset="-79"/>
              <a:cs typeface="Assistant" pitchFamily="2" charset="-79"/>
            </a:endParaRPr>
          </a:p>
          <a:p>
            <a:endParaRPr lang="nl-NL" sz="1600">
              <a:latin typeface="Assistant" pitchFamily="2" charset="-79"/>
              <a:cs typeface="Assistant" pitchFamily="2" charset="-79"/>
            </a:endParaRPr>
          </a:p>
          <a:p>
            <a:r>
              <a:rPr lang="nl-NL" sz="1600" b="1" err="1">
                <a:latin typeface="Assistant" pitchFamily="2" charset="-79"/>
                <a:cs typeface="Assistant" pitchFamily="2" charset="-79"/>
              </a:rPr>
              <a:t>eScience</a:t>
            </a:r>
            <a:r>
              <a:rPr lang="nl-NL" sz="1600" b="1">
                <a:latin typeface="Assistant" pitchFamily="2" charset="-79"/>
                <a:cs typeface="Assistant" pitchFamily="2" charset="-79"/>
              </a:rPr>
              <a:t> Research </a:t>
            </a:r>
            <a:r>
              <a:rPr lang="nl-NL" sz="1600" b="1" err="1">
                <a:latin typeface="Assistant" pitchFamily="2" charset="-79"/>
                <a:cs typeface="Assistant" pitchFamily="2" charset="-79"/>
              </a:rPr>
              <a:t>Coordinator</a:t>
            </a:r>
            <a:endParaRPr lang="nl-NL" sz="1600" b="1">
              <a:latin typeface="Assistant" pitchFamily="2" charset="-79"/>
              <a:cs typeface="Assistant" pitchFamily="2" charset="-79"/>
            </a:endParaRPr>
          </a:p>
          <a:p>
            <a:r>
              <a:rPr lang="nl-NL" sz="1600">
                <a:latin typeface="Assistant" pitchFamily="2" charset="-79"/>
                <a:cs typeface="Assistant" pitchFamily="2" charset="-79"/>
              </a:rPr>
              <a:t>Name</a:t>
            </a:r>
          </a:p>
          <a:p>
            <a:endParaRPr lang="nl-NL" sz="1600">
              <a:latin typeface="Assistant" pitchFamily="2" charset="-79"/>
              <a:cs typeface="Assistant" pitchFamily="2" charset="-79"/>
            </a:endParaRPr>
          </a:p>
          <a:p>
            <a:r>
              <a:rPr lang="nl-NL" sz="1600" b="1" err="1">
                <a:latin typeface="Assistant" pitchFamily="2" charset="-79"/>
                <a:cs typeface="Assistant" pitchFamily="2" charset="-79"/>
              </a:rPr>
              <a:t>eScience</a:t>
            </a:r>
            <a:endParaRPr lang="nl-NL" sz="1600" b="1">
              <a:latin typeface="Assistant" pitchFamily="2" charset="-79"/>
              <a:cs typeface="Assistant" pitchFamily="2" charset="-79"/>
            </a:endParaRPr>
          </a:p>
          <a:p>
            <a:r>
              <a:rPr lang="nl-NL" sz="1600">
                <a:latin typeface="Assistant" pitchFamily="2" charset="-79"/>
                <a:cs typeface="Assistant" pitchFamily="2" charset="-79"/>
              </a:rPr>
              <a:t>Name</a:t>
            </a:r>
          </a:p>
          <a:p>
            <a:r>
              <a:rPr lang="nl-NL" sz="1600">
                <a:latin typeface="Assistant" pitchFamily="2" charset="-79"/>
                <a:cs typeface="Assistant" pitchFamily="2" charset="-79"/>
              </a:rPr>
              <a:t>Name</a:t>
            </a:r>
          </a:p>
          <a:p>
            <a:r>
              <a:rPr lang="nl-NL" sz="1600">
                <a:latin typeface="Assistant" pitchFamily="2" charset="-79"/>
                <a:cs typeface="Assistant" pitchFamily="2" charset="-79"/>
              </a:rPr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3150416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60B84-5DEE-4871-BF64-E2FB63FD8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1054" y="2457485"/>
            <a:ext cx="5172860" cy="525115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5D5CE-1BC5-4E2D-AA5B-AC594DDEB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1054" y="2988125"/>
            <a:ext cx="5172860" cy="538843"/>
          </a:xfrm>
        </p:spPr>
        <p:txBody>
          <a:bodyPr/>
          <a:lstStyle>
            <a:lvl1pPr marL="0" indent="0">
              <a:buNone/>
              <a:defRPr sz="1600" b="1">
                <a:solidFill>
                  <a:schemeClr val="accent3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5F9CD-09B2-4288-8B0F-DFE0E5E61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30EFB-AB28-4A68-9CF2-24FEA7CF3D98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87B25-8A83-4C70-B2F1-C1832EC7B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8EA61-ADEF-44A4-A550-82FA30A08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0EB9D-8EC8-4EF4-9A95-65EE5F6F83A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al 1">
            <a:extLst>
              <a:ext uri="{FF2B5EF4-FFF2-40B4-BE49-F238E27FC236}">
                <a16:creationId xmlns:a16="http://schemas.microsoft.com/office/drawing/2014/main" id="{5CC9E004-97E0-4615-A14A-133AC6C39587}"/>
              </a:ext>
            </a:extLst>
          </p:cNvPr>
          <p:cNvSpPr/>
          <p:nvPr userDrawn="1"/>
        </p:nvSpPr>
        <p:spPr>
          <a:xfrm>
            <a:off x="6635098" y="4112371"/>
            <a:ext cx="1169959" cy="1169959"/>
          </a:xfrm>
          <a:prstGeom prst="ellipse">
            <a:avLst/>
          </a:prstGeom>
          <a:blipFill dpi="0" rotWithShape="1"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Tekstvak 2">
            <a:extLst>
              <a:ext uri="{FF2B5EF4-FFF2-40B4-BE49-F238E27FC236}">
                <a16:creationId xmlns:a16="http://schemas.microsoft.com/office/drawing/2014/main" id="{E097A287-6819-46EF-A4A1-E5978F20F448}"/>
              </a:ext>
            </a:extLst>
          </p:cNvPr>
          <p:cNvSpPr txBox="1"/>
          <p:nvPr userDrawn="1"/>
        </p:nvSpPr>
        <p:spPr>
          <a:xfrm>
            <a:off x="6482698" y="3626536"/>
            <a:ext cx="2672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b="1">
                <a:latin typeface="Assistant" pitchFamily="2" charset="-79"/>
                <a:cs typeface="Assistant" pitchFamily="2" charset="-79"/>
              </a:rPr>
              <a:t>Contact person</a:t>
            </a:r>
          </a:p>
        </p:txBody>
      </p:sp>
      <p:sp>
        <p:nvSpPr>
          <p:cNvPr id="10" name="Tekstvak 10">
            <a:extLst>
              <a:ext uri="{FF2B5EF4-FFF2-40B4-BE49-F238E27FC236}">
                <a16:creationId xmlns:a16="http://schemas.microsoft.com/office/drawing/2014/main" id="{434E4565-08BA-4536-9BBF-2A2765E921E8}"/>
              </a:ext>
            </a:extLst>
          </p:cNvPr>
          <p:cNvSpPr txBox="1"/>
          <p:nvPr userDrawn="1"/>
        </p:nvSpPr>
        <p:spPr>
          <a:xfrm>
            <a:off x="7848146" y="4349419"/>
            <a:ext cx="20763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>
                <a:latin typeface="Assistant" pitchFamily="2" charset="-79"/>
                <a:cs typeface="Assistant" pitchFamily="2" charset="-79"/>
              </a:rPr>
              <a:t>Name of person</a:t>
            </a:r>
          </a:p>
        </p:txBody>
      </p:sp>
      <p:sp>
        <p:nvSpPr>
          <p:cNvPr id="11" name="Tekstvak 11">
            <a:extLst>
              <a:ext uri="{FF2B5EF4-FFF2-40B4-BE49-F238E27FC236}">
                <a16:creationId xmlns:a16="http://schemas.microsoft.com/office/drawing/2014/main" id="{C94B086D-54B9-4094-9C40-9363E370174F}"/>
              </a:ext>
            </a:extLst>
          </p:cNvPr>
          <p:cNvSpPr txBox="1"/>
          <p:nvPr userDrawn="1"/>
        </p:nvSpPr>
        <p:spPr>
          <a:xfrm>
            <a:off x="7848145" y="4650977"/>
            <a:ext cx="20763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err="1">
                <a:latin typeface="Assistant" pitchFamily="2" charset="-79"/>
                <a:cs typeface="Assistant" pitchFamily="2" charset="-79"/>
              </a:rPr>
              <a:t>Organisation</a:t>
            </a:r>
            <a:endParaRPr lang="nl-NL" sz="1600">
              <a:latin typeface="Assistant" pitchFamily="2" charset="-79"/>
              <a:cs typeface="Assistant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815482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60B84-5DEE-4871-BF64-E2FB63FD8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5D5CE-1BC5-4E2D-AA5B-AC594DDEB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5F9CD-09B2-4288-8B0F-DFE0E5E61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30EFB-AB28-4A68-9CF2-24FEA7CF3D98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87B25-8A83-4C70-B2F1-C1832EC7B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8EA61-ADEF-44A4-A550-82FA30A08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0EB9D-8EC8-4EF4-9A95-65EE5F6F8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599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0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60B84-5DEE-4871-BF64-E2FB63FD8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5D5CE-1BC5-4E2D-AA5B-AC594DDEB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5F9CD-09B2-4288-8B0F-DFE0E5E61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30EFB-AB28-4A68-9CF2-24FEA7CF3D98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87B25-8A83-4C70-B2F1-C1832EC7B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8EA61-ADEF-44A4-A550-82FA30A08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0EB9D-8EC8-4EF4-9A95-65EE5F6F8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607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9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60B84-5DEE-4871-BF64-E2FB63FD8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5D5CE-1BC5-4E2D-AA5B-AC594DDEB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5F9CD-09B2-4288-8B0F-DFE0E5E61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30EFB-AB28-4A68-9CF2-24FEA7CF3D98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87B25-8A83-4C70-B2F1-C1832EC7B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8EA61-ADEF-44A4-A550-82FA30A08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0EB9D-8EC8-4EF4-9A95-65EE5F6F8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88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60B84-5DEE-4871-BF64-E2FB63FD8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5D5CE-1BC5-4E2D-AA5B-AC594DDEB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5F9CD-09B2-4288-8B0F-DFE0E5E61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30EFB-AB28-4A68-9CF2-24FEA7CF3D98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87B25-8A83-4C70-B2F1-C1832EC7B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8EA61-ADEF-44A4-A550-82FA30A08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0EB9D-8EC8-4EF4-9A95-65EE5F6F8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102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60B84-5DEE-4871-BF64-E2FB63FD8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5D5CE-1BC5-4E2D-AA5B-AC594DDEB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5F9CD-09B2-4288-8B0F-DFE0E5E61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30EFB-AB28-4A68-9CF2-24FEA7CF3D98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87B25-8A83-4C70-B2F1-C1832EC7B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8EA61-ADEF-44A4-A550-82FA30A08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0EB9D-8EC8-4EF4-9A95-65EE5F6F8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420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60B84-5DEE-4871-BF64-E2FB63FD8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4654" y="1690688"/>
            <a:ext cx="4731989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5D5CE-1BC5-4E2D-AA5B-AC594DDEB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4654" y="3184071"/>
            <a:ext cx="4751615" cy="2076904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5F9CD-09B2-4288-8B0F-DFE0E5E61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30EFB-AB28-4A68-9CF2-24FEA7CF3D98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87B25-8A83-4C70-B2F1-C1832EC7B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8EA61-ADEF-44A4-A550-82FA30A08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0EB9D-8EC8-4EF4-9A95-65EE5F6F83A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kstvak 10">
            <a:extLst>
              <a:ext uri="{FF2B5EF4-FFF2-40B4-BE49-F238E27FC236}">
                <a16:creationId xmlns:a16="http://schemas.microsoft.com/office/drawing/2014/main" id="{8BBDB083-0221-48BC-BC76-B17DA3BC317D}"/>
              </a:ext>
            </a:extLst>
          </p:cNvPr>
          <p:cNvSpPr txBox="1"/>
          <p:nvPr userDrawn="1"/>
        </p:nvSpPr>
        <p:spPr>
          <a:xfrm>
            <a:off x="7425549" y="1807862"/>
            <a:ext cx="370179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b="1">
                <a:latin typeface="Assistant" pitchFamily="2" charset="-79"/>
                <a:cs typeface="Assistant" pitchFamily="2" charset="-79"/>
              </a:rPr>
              <a:t>Lorem Ipsum</a:t>
            </a:r>
          </a:p>
          <a:p>
            <a:r>
              <a:rPr lang="nl-NL" sz="1600">
                <a:latin typeface="Assistant" pitchFamily="2" charset="-79"/>
                <a:cs typeface="Assistant" pitchFamily="2" charset="-79"/>
              </a:rPr>
              <a:t>Name </a:t>
            </a:r>
            <a:r>
              <a:rPr lang="nl-NL" sz="1600" err="1">
                <a:latin typeface="Assistant" pitchFamily="2" charset="-79"/>
                <a:cs typeface="Assistant" pitchFamily="2" charset="-79"/>
              </a:rPr>
              <a:t>Surname</a:t>
            </a:r>
            <a:endParaRPr lang="nl-NL" sz="1600">
              <a:latin typeface="Assistant" pitchFamily="2" charset="-79"/>
              <a:cs typeface="Assistant" pitchFamily="2" charset="-79"/>
            </a:endParaRPr>
          </a:p>
          <a:p>
            <a:endParaRPr lang="nl-NL" sz="1600">
              <a:latin typeface="Assistant" pitchFamily="2" charset="-79"/>
              <a:cs typeface="Assistant" pitchFamily="2" charset="-79"/>
            </a:endParaRPr>
          </a:p>
          <a:p>
            <a:r>
              <a:rPr lang="nl-NL" sz="1600" b="1">
                <a:latin typeface="Assistant" pitchFamily="2" charset="-79"/>
                <a:cs typeface="Assistant" pitchFamily="2" charset="-79"/>
              </a:rPr>
              <a:t>Lorem Ipsum</a:t>
            </a:r>
          </a:p>
          <a:p>
            <a:r>
              <a:rPr lang="nl-NL" sz="1600">
                <a:latin typeface="Assistant" pitchFamily="2" charset="-79"/>
                <a:cs typeface="Assistant" pitchFamily="2" charset="-79"/>
              </a:rPr>
              <a:t>Name </a:t>
            </a:r>
            <a:r>
              <a:rPr lang="nl-NL" sz="1600" err="1">
                <a:latin typeface="Assistant" pitchFamily="2" charset="-79"/>
                <a:cs typeface="Assistant" pitchFamily="2" charset="-79"/>
              </a:rPr>
              <a:t>Surname</a:t>
            </a:r>
            <a:endParaRPr lang="nl-NL" sz="1600">
              <a:latin typeface="Assistant" pitchFamily="2" charset="-79"/>
              <a:cs typeface="Assistant" pitchFamily="2" charset="-79"/>
            </a:endParaRPr>
          </a:p>
          <a:p>
            <a:endParaRPr lang="nl-NL" sz="1600">
              <a:latin typeface="Assistant" pitchFamily="2" charset="-79"/>
              <a:cs typeface="Assistant" pitchFamily="2" charset="-79"/>
            </a:endParaRPr>
          </a:p>
          <a:p>
            <a:r>
              <a:rPr lang="nl-NL" sz="1600" b="1">
                <a:latin typeface="Assistant" pitchFamily="2" charset="-79"/>
                <a:cs typeface="Assistant" pitchFamily="2" charset="-79"/>
              </a:rPr>
              <a:t>Lorem Ipsum</a:t>
            </a:r>
          </a:p>
          <a:p>
            <a:r>
              <a:rPr lang="nl-NL" sz="1600">
                <a:latin typeface="Assistant" pitchFamily="2" charset="-79"/>
                <a:cs typeface="Assistant" pitchFamily="2" charset="-79"/>
              </a:rPr>
              <a:t>Name </a:t>
            </a:r>
            <a:r>
              <a:rPr lang="nl-NL" sz="1600" err="1">
                <a:latin typeface="Assistant" pitchFamily="2" charset="-79"/>
                <a:cs typeface="Assistant" pitchFamily="2" charset="-79"/>
              </a:rPr>
              <a:t>Surname</a:t>
            </a:r>
            <a:endParaRPr lang="nl-NL" sz="1600">
              <a:latin typeface="Assistant" pitchFamily="2" charset="-79"/>
              <a:cs typeface="Assistant" pitchFamily="2" charset="-79"/>
            </a:endParaRPr>
          </a:p>
          <a:p>
            <a:endParaRPr lang="nl-NL" sz="1600">
              <a:latin typeface="Assistant" pitchFamily="2" charset="-79"/>
              <a:cs typeface="Assistant" pitchFamily="2" charset="-79"/>
            </a:endParaRPr>
          </a:p>
          <a:p>
            <a:r>
              <a:rPr lang="nl-NL" sz="1600" b="1">
                <a:latin typeface="Assistant" pitchFamily="2" charset="-79"/>
                <a:cs typeface="Assistant" pitchFamily="2" charset="-79"/>
              </a:rPr>
              <a:t>Lorem Ipsum</a:t>
            </a:r>
          </a:p>
          <a:p>
            <a:r>
              <a:rPr lang="nl-NL" sz="1600">
                <a:latin typeface="Assistant" pitchFamily="2" charset="-79"/>
                <a:cs typeface="Assistant" pitchFamily="2" charset="-79"/>
              </a:rPr>
              <a:t>Name </a:t>
            </a:r>
            <a:r>
              <a:rPr lang="nl-NL" sz="1600" err="1">
                <a:latin typeface="Assistant" pitchFamily="2" charset="-79"/>
                <a:cs typeface="Assistant" pitchFamily="2" charset="-79"/>
              </a:rPr>
              <a:t>Surname</a:t>
            </a:r>
            <a:endParaRPr lang="nl-NL" sz="1600">
              <a:latin typeface="Assistant" pitchFamily="2" charset="-79"/>
              <a:cs typeface="Assistant" pitchFamily="2" charset="-79"/>
            </a:endParaRPr>
          </a:p>
          <a:p>
            <a:endParaRPr lang="nl-NL" sz="1600">
              <a:latin typeface="Assistant" pitchFamily="2" charset="-79"/>
              <a:cs typeface="Assistant" pitchFamily="2" charset="-79"/>
            </a:endParaRPr>
          </a:p>
          <a:p>
            <a:r>
              <a:rPr lang="nl-NL" sz="1600" b="1">
                <a:latin typeface="Assistant" pitchFamily="2" charset="-79"/>
                <a:cs typeface="Assistant" pitchFamily="2" charset="-79"/>
              </a:rPr>
              <a:t>Lorem Ipsum</a:t>
            </a:r>
          </a:p>
          <a:p>
            <a:r>
              <a:rPr lang="nl-NL" sz="1600">
                <a:latin typeface="Assistant" pitchFamily="2" charset="-79"/>
                <a:cs typeface="Assistant" pitchFamily="2" charset="-79"/>
              </a:rPr>
              <a:t>Name </a:t>
            </a:r>
            <a:r>
              <a:rPr lang="nl-NL" sz="1600" err="1">
                <a:latin typeface="Assistant" pitchFamily="2" charset="-79"/>
                <a:cs typeface="Assistant" pitchFamily="2" charset="-79"/>
              </a:rPr>
              <a:t>Surname</a:t>
            </a:r>
            <a:endParaRPr lang="nl-NL" sz="1600">
              <a:latin typeface="Assistant" pitchFamily="2" charset="-79"/>
              <a:cs typeface="Assistant" pitchFamily="2" charset="-79"/>
            </a:endParaRPr>
          </a:p>
          <a:p>
            <a:endParaRPr lang="nl-NL" sz="1600">
              <a:latin typeface="Assistant" pitchFamily="2" charset="-79"/>
              <a:cs typeface="Assistant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1885820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60B84-5DEE-4871-BF64-E2FB63FD8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670" y="2022475"/>
            <a:ext cx="460248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5F9CD-09B2-4288-8B0F-DFE0E5E61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30EFB-AB28-4A68-9CF2-24FEA7CF3D98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87B25-8A83-4C70-B2F1-C1832EC7B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8EA61-ADEF-44A4-A550-82FA30A08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0EB9D-8EC8-4EF4-9A95-65EE5F6F83A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kstvak 6">
            <a:extLst>
              <a:ext uri="{FF2B5EF4-FFF2-40B4-BE49-F238E27FC236}">
                <a16:creationId xmlns:a16="http://schemas.microsoft.com/office/drawing/2014/main" id="{3538DAB4-22F9-4882-8E20-AE7B1B1B5B64}"/>
              </a:ext>
            </a:extLst>
          </p:cNvPr>
          <p:cNvSpPr txBox="1"/>
          <p:nvPr userDrawn="1"/>
        </p:nvSpPr>
        <p:spPr>
          <a:xfrm>
            <a:off x="6336501" y="1807862"/>
            <a:ext cx="4862210" cy="844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GB" sz="1400" b="1">
                <a:solidFill>
                  <a:srgbClr val="479EDB"/>
                </a:solidFill>
                <a:latin typeface="Assistant" pitchFamily="2" charset="-79"/>
                <a:cs typeface="Assistant" pitchFamily="2" charset="-79"/>
              </a:rPr>
              <a:t>Lorem ipsum </a:t>
            </a:r>
            <a:r>
              <a:rPr lang="en-GB" sz="1400" b="1" err="1">
                <a:solidFill>
                  <a:srgbClr val="479EDB"/>
                </a:solidFill>
                <a:latin typeface="Assistant" pitchFamily="2" charset="-79"/>
                <a:cs typeface="Assistant" pitchFamily="2" charset="-79"/>
              </a:rPr>
              <a:t>dolor</a:t>
            </a:r>
            <a:endParaRPr lang="en-GB" sz="1400" b="1">
              <a:solidFill>
                <a:srgbClr val="479EDB"/>
              </a:solidFill>
              <a:latin typeface="Assistant" pitchFamily="2" charset="-79"/>
              <a:cs typeface="Assistant" pitchFamily="2" charset="-79"/>
            </a:endParaRPr>
          </a:p>
          <a:p>
            <a:pPr>
              <a:lnSpc>
                <a:spcPts val="2000"/>
              </a:lnSpc>
            </a:pPr>
            <a:r>
              <a:rPr lang="en-GB" sz="1400">
                <a:latin typeface="Assistant" pitchFamily="2" charset="-79"/>
                <a:cs typeface="Assistant" pitchFamily="2" charset="-79"/>
              </a:rPr>
              <a:t>Sit amet, </a:t>
            </a:r>
            <a:r>
              <a:rPr lang="en-GB" sz="1400" err="1">
                <a:latin typeface="Assistant" pitchFamily="2" charset="-79"/>
                <a:cs typeface="Assistant" pitchFamily="2" charset="-79"/>
              </a:rPr>
              <a:t>consectetuer</a:t>
            </a:r>
            <a:r>
              <a:rPr lang="en-GB" sz="1400">
                <a:latin typeface="Assistant" pitchFamily="2" charset="-79"/>
                <a:cs typeface="Assistant" pitchFamily="2" charset="-79"/>
              </a:rPr>
              <a:t> </a:t>
            </a:r>
            <a:r>
              <a:rPr lang="en-GB" sz="1400" err="1">
                <a:latin typeface="Assistant" pitchFamily="2" charset="-79"/>
                <a:cs typeface="Assistant" pitchFamily="2" charset="-79"/>
              </a:rPr>
              <a:t>adipiscing</a:t>
            </a:r>
            <a:r>
              <a:rPr lang="en-GB" sz="1400">
                <a:latin typeface="Assistant" pitchFamily="2" charset="-79"/>
                <a:cs typeface="Assistant" pitchFamily="2" charset="-79"/>
              </a:rPr>
              <a:t> </a:t>
            </a:r>
            <a:r>
              <a:rPr lang="en-GB" sz="1400" err="1">
                <a:latin typeface="Assistant" pitchFamily="2" charset="-79"/>
                <a:cs typeface="Assistant" pitchFamily="2" charset="-79"/>
              </a:rPr>
              <a:t>elit</a:t>
            </a:r>
            <a:r>
              <a:rPr lang="en-GB" sz="1400">
                <a:latin typeface="Assistant" pitchFamily="2" charset="-79"/>
                <a:cs typeface="Assistant" pitchFamily="2" charset="-79"/>
              </a:rPr>
              <a:t>, </a:t>
            </a:r>
            <a:r>
              <a:rPr lang="en-GB" sz="1400" err="1">
                <a:latin typeface="Assistant" pitchFamily="2" charset="-79"/>
                <a:cs typeface="Assistant" pitchFamily="2" charset="-79"/>
              </a:rPr>
              <a:t>sed</a:t>
            </a:r>
            <a:r>
              <a:rPr lang="en-GB" sz="1400">
                <a:latin typeface="Assistant" pitchFamily="2" charset="-79"/>
                <a:cs typeface="Assistant" pitchFamily="2" charset="-79"/>
              </a:rPr>
              <a:t> </a:t>
            </a:r>
            <a:r>
              <a:rPr lang="en-GB" sz="1400" err="1">
                <a:latin typeface="Assistant" pitchFamily="2" charset="-79"/>
                <a:cs typeface="Assistant" pitchFamily="2" charset="-79"/>
              </a:rPr>
              <a:t>diam</a:t>
            </a:r>
            <a:r>
              <a:rPr lang="en-GB" sz="1400">
                <a:latin typeface="Assistant" pitchFamily="2" charset="-79"/>
                <a:cs typeface="Assistant" pitchFamily="2" charset="-79"/>
              </a:rPr>
              <a:t> </a:t>
            </a:r>
            <a:r>
              <a:rPr lang="en-GB" sz="1400" err="1">
                <a:latin typeface="Assistant" pitchFamily="2" charset="-79"/>
                <a:cs typeface="Assistant" pitchFamily="2" charset="-79"/>
              </a:rPr>
              <a:t>nommy</a:t>
            </a:r>
            <a:r>
              <a:rPr lang="en-GB" sz="1400">
                <a:latin typeface="Assistant" pitchFamily="2" charset="-79"/>
                <a:cs typeface="Assistant" pitchFamily="2" charset="-79"/>
              </a:rPr>
              <a:t> </a:t>
            </a:r>
            <a:r>
              <a:rPr lang="en-GB" sz="1400" err="1">
                <a:latin typeface="Assistant" pitchFamily="2" charset="-79"/>
                <a:cs typeface="Assistant" pitchFamily="2" charset="-79"/>
              </a:rPr>
              <a:t>nibh</a:t>
            </a:r>
            <a:r>
              <a:rPr lang="en-GB" sz="1400">
                <a:latin typeface="Assistant" pitchFamily="2" charset="-79"/>
                <a:cs typeface="Assistant" pitchFamily="2" charset="-79"/>
              </a:rPr>
              <a:t> </a:t>
            </a:r>
            <a:r>
              <a:rPr lang="en-GB" sz="1400" err="1">
                <a:latin typeface="Assistant" pitchFamily="2" charset="-79"/>
                <a:cs typeface="Assistant" pitchFamily="2" charset="-79"/>
              </a:rPr>
              <a:t>euismod</a:t>
            </a:r>
            <a:r>
              <a:rPr lang="en-GB" sz="1400">
                <a:latin typeface="Assistant" pitchFamily="2" charset="-79"/>
                <a:cs typeface="Assistant" pitchFamily="2" charset="-79"/>
              </a:rPr>
              <a:t> </a:t>
            </a:r>
            <a:r>
              <a:rPr lang="en-GB" sz="1400" err="1">
                <a:latin typeface="Assistant" pitchFamily="2" charset="-79"/>
                <a:cs typeface="Assistant" pitchFamily="2" charset="-79"/>
              </a:rPr>
              <a:t>tincidunt</a:t>
            </a:r>
            <a:r>
              <a:rPr lang="en-GB" sz="1400">
                <a:latin typeface="Assistant" pitchFamily="2" charset="-79"/>
                <a:cs typeface="Assistant" pitchFamily="2" charset="-79"/>
              </a:rPr>
              <a:t> </a:t>
            </a:r>
            <a:r>
              <a:rPr lang="en-GB" sz="1400" err="1">
                <a:latin typeface="Assistant" pitchFamily="2" charset="-79"/>
                <a:cs typeface="Assistant" pitchFamily="2" charset="-79"/>
              </a:rPr>
              <a:t>ut</a:t>
            </a:r>
            <a:r>
              <a:rPr lang="en-GB" sz="1400">
                <a:latin typeface="Assistant" pitchFamily="2" charset="-79"/>
                <a:cs typeface="Assistant" pitchFamily="2" charset="-79"/>
              </a:rPr>
              <a:t> </a:t>
            </a:r>
            <a:r>
              <a:rPr lang="en-GB" sz="1400" err="1">
                <a:latin typeface="Assistant" pitchFamily="2" charset="-79"/>
                <a:cs typeface="Assistant" pitchFamily="2" charset="-79"/>
              </a:rPr>
              <a:t>laoreet</a:t>
            </a:r>
            <a:r>
              <a:rPr lang="en-GB" sz="1400">
                <a:latin typeface="Assistant" pitchFamily="2" charset="-79"/>
                <a:cs typeface="Assistant" pitchFamily="2" charset="-79"/>
              </a:rPr>
              <a:t> dolore magna </a:t>
            </a:r>
            <a:r>
              <a:rPr lang="en-GB" sz="1400" err="1">
                <a:latin typeface="Assistant" pitchFamily="2" charset="-79"/>
                <a:cs typeface="Assistant" pitchFamily="2" charset="-79"/>
              </a:rPr>
              <a:t>aliquam</a:t>
            </a:r>
            <a:r>
              <a:rPr lang="en-GB" sz="1400">
                <a:latin typeface="Assistant" pitchFamily="2" charset="-79"/>
                <a:cs typeface="Assistant" pitchFamily="2" charset="-79"/>
              </a:rPr>
              <a:t> </a:t>
            </a:r>
            <a:r>
              <a:rPr lang="en-GB" sz="1400" err="1">
                <a:latin typeface="Assistant" pitchFamily="2" charset="-79"/>
                <a:cs typeface="Assistant" pitchFamily="2" charset="-79"/>
              </a:rPr>
              <a:t>volutpat</a:t>
            </a:r>
            <a:r>
              <a:rPr lang="en-GB" sz="1400">
                <a:latin typeface="Assistant" pitchFamily="2" charset="-79"/>
                <a:cs typeface="Assistant" pitchFamily="2" charset="-79"/>
              </a:rPr>
              <a:t>. </a:t>
            </a:r>
          </a:p>
        </p:txBody>
      </p:sp>
      <p:sp>
        <p:nvSpPr>
          <p:cNvPr id="10" name="Tekstvak 7">
            <a:extLst>
              <a:ext uri="{FF2B5EF4-FFF2-40B4-BE49-F238E27FC236}">
                <a16:creationId xmlns:a16="http://schemas.microsoft.com/office/drawing/2014/main" id="{22190590-CB5D-408C-8271-28FB03940804}"/>
              </a:ext>
            </a:extLst>
          </p:cNvPr>
          <p:cNvSpPr txBox="1"/>
          <p:nvPr userDrawn="1"/>
        </p:nvSpPr>
        <p:spPr>
          <a:xfrm>
            <a:off x="6336501" y="3074863"/>
            <a:ext cx="4862210" cy="844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GB" sz="1400" b="1">
                <a:solidFill>
                  <a:srgbClr val="479EDB"/>
                </a:solidFill>
                <a:latin typeface="Assistant" pitchFamily="2" charset="-79"/>
                <a:cs typeface="Assistant" pitchFamily="2" charset="-79"/>
              </a:rPr>
              <a:t>Lorem ipsum </a:t>
            </a:r>
            <a:r>
              <a:rPr lang="en-GB" sz="1400" b="1" err="1">
                <a:solidFill>
                  <a:srgbClr val="479EDB"/>
                </a:solidFill>
                <a:latin typeface="Assistant" pitchFamily="2" charset="-79"/>
                <a:cs typeface="Assistant" pitchFamily="2" charset="-79"/>
              </a:rPr>
              <a:t>dolor</a:t>
            </a:r>
            <a:endParaRPr lang="en-GB" sz="1400" b="1">
              <a:solidFill>
                <a:srgbClr val="479EDB"/>
              </a:solidFill>
              <a:latin typeface="Assistant" pitchFamily="2" charset="-79"/>
              <a:cs typeface="Assistant" pitchFamily="2" charset="-79"/>
            </a:endParaRPr>
          </a:p>
          <a:p>
            <a:pPr>
              <a:lnSpc>
                <a:spcPts val="2000"/>
              </a:lnSpc>
            </a:pPr>
            <a:r>
              <a:rPr lang="en-GB" sz="1400">
                <a:latin typeface="Assistant" pitchFamily="2" charset="-79"/>
                <a:cs typeface="Assistant" pitchFamily="2" charset="-79"/>
              </a:rPr>
              <a:t>Sit amet, </a:t>
            </a:r>
            <a:r>
              <a:rPr lang="en-GB" sz="1400" err="1">
                <a:latin typeface="Assistant" pitchFamily="2" charset="-79"/>
                <a:cs typeface="Assistant" pitchFamily="2" charset="-79"/>
              </a:rPr>
              <a:t>consectetuer</a:t>
            </a:r>
            <a:r>
              <a:rPr lang="en-GB" sz="1400">
                <a:latin typeface="Assistant" pitchFamily="2" charset="-79"/>
                <a:cs typeface="Assistant" pitchFamily="2" charset="-79"/>
              </a:rPr>
              <a:t> </a:t>
            </a:r>
            <a:r>
              <a:rPr lang="en-GB" sz="1400" err="1">
                <a:latin typeface="Assistant" pitchFamily="2" charset="-79"/>
                <a:cs typeface="Assistant" pitchFamily="2" charset="-79"/>
              </a:rPr>
              <a:t>adipiscing</a:t>
            </a:r>
            <a:r>
              <a:rPr lang="en-GB" sz="1400">
                <a:latin typeface="Assistant" pitchFamily="2" charset="-79"/>
                <a:cs typeface="Assistant" pitchFamily="2" charset="-79"/>
              </a:rPr>
              <a:t> </a:t>
            </a:r>
            <a:r>
              <a:rPr lang="en-GB" sz="1400" err="1">
                <a:latin typeface="Assistant" pitchFamily="2" charset="-79"/>
                <a:cs typeface="Assistant" pitchFamily="2" charset="-79"/>
              </a:rPr>
              <a:t>elit</a:t>
            </a:r>
            <a:r>
              <a:rPr lang="en-GB" sz="1400">
                <a:latin typeface="Assistant" pitchFamily="2" charset="-79"/>
                <a:cs typeface="Assistant" pitchFamily="2" charset="-79"/>
              </a:rPr>
              <a:t>, </a:t>
            </a:r>
            <a:r>
              <a:rPr lang="en-GB" sz="1400" err="1">
                <a:latin typeface="Assistant" pitchFamily="2" charset="-79"/>
                <a:cs typeface="Assistant" pitchFamily="2" charset="-79"/>
              </a:rPr>
              <a:t>sed</a:t>
            </a:r>
            <a:r>
              <a:rPr lang="en-GB" sz="1400">
                <a:latin typeface="Assistant" pitchFamily="2" charset="-79"/>
                <a:cs typeface="Assistant" pitchFamily="2" charset="-79"/>
              </a:rPr>
              <a:t> </a:t>
            </a:r>
            <a:r>
              <a:rPr lang="en-GB" sz="1400" err="1">
                <a:latin typeface="Assistant" pitchFamily="2" charset="-79"/>
                <a:cs typeface="Assistant" pitchFamily="2" charset="-79"/>
              </a:rPr>
              <a:t>diam</a:t>
            </a:r>
            <a:r>
              <a:rPr lang="en-GB" sz="1400">
                <a:latin typeface="Assistant" pitchFamily="2" charset="-79"/>
                <a:cs typeface="Assistant" pitchFamily="2" charset="-79"/>
              </a:rPr>
              <a:t> </a:t>
            </a:r>
            <a:r>
              <a:rPr lang="en-GB" sz="1400" err="1">
                <a:latin typeface="Assistant" pitchFamily="2" charset="-79"/>
                <a:cs typeface="Assistant" pitchFamily="2" charset="-79"/>
              </a:rPr>
              <a:t>nommy</a:t>
            </a:r>
            <a:r>
              <a:rPr lang="en-GB" sz="1400">
                <a:latin typeface="Assistant" pitchFamily="2" charset="-79"/>
                <a:cs typeface="Assistant" pitchFamily="2" charset="-79"/>
              </a:rPr>
              <a:t> </a:t>
            </a:r>
            <a:r>
              <a:rPr lang="en-GB" sz="1400" err="1">
                <a:latin typeface="Assistant" pitchFamily="2" charset="-79"/>
                <a:cs typeface="Assistant" pitchFamily="2" charset="-79"/>
              </a:rPr>
              <a:t>nibh</a:t>
            </a:r>
            <a:r>
              <a:rPr lang="en-GB" sz="1400">
                <a:latin typeface="Assistant" pitchFamily="2" charset="-79"/>
                <a:cs typeface="Assistant" pitchFamily="2" charset="-79"/>
              </a:rPr>
              <a:t> </a:t>
            </a:r>
            <a:r>
              <a:rPr lang="en-GB" sz="1400" err="1">
                <a:latin typeface="Assistant" pitchFamily="2" charset="-79"/>
                <a:cs typeface="Assistant" pitchFamily="2" charset="-79"/>
              </a:rPr>
              <a:t>euismod</a:t>
            </a:r>
            <a:r>
              <a:rPr lang="en-GB" sz="1400">
                <a:latin typeface="Assistant" pitchFamily="2" charset="-79"/>
                <a:cs typeface="Assistant" pitchFamily="2" charset="-79"/>
              </a:rPr>
              <a:t> </a:t>
            </a:r>
            <a:r>
              <a:rPr lang="en-GB" sz="1400" err="1">
                <a:latin typeface="Assistant" pitchFamily="2" charset="-79"/>
                <a:cs typeface="Assistant" pitchFamily="2" charset="-79"/>
              </a:rPr>
              <a:t>tincidunt</a:t>
            </a:r>
            <a:r>
              <a:rPr lang="en-GB" sz="1400">
                <a:latin typeface="Assistant" pitchFamily="2" charset="-79"/>
                <a:cs typeface="Assistant" pitchFamily="2" charset="-79"/>
              </a:rPr>
              <a:t> </a:t>
            </a:r>
            <a:r>
              <a:rPr lang="en-GB" sz="1400" err="1">
                <a:latin typeface="Assistant" pitchFamily="2" charset="-79"/>
                <a:cs typeface="Assistant" pitchFamily="2" charset="-79"/>
              </a:rPr>
              <a:t>ut</a:t>
            </a:r>
            <a:r>
              <a:rPr lang="en-GB" sz="1400">
                <a:latin typeface="Assistant" pitchFamily="2" charset="-79"/>
                <a:cs typeface="Assistant" pitchFamily="2" charset="-79"/>
              </a:rPr>
              <a:t> </a:t>
            </a:r>
            <a:r>
              <a:rPr lang="en-GB" sz="1400" err="1">
                <a:latin typeface="Assistant" pitchFamily="2" charset="-79"/>
                <a:cs typeface="Assistant" pitchFamily="2" charset="-79"/>
              </a:rPr>
              <a:t>laoreet</a:t>
            </a:r>
            <a:r>
              <a:rPr lang="en-GB" sz="1400">
                <a:latin typeface="Assistant" pitchFamily="2" charset="-79"/>
                <a:cs typeface="Assistant" pitchFamily="2" charset="-79"/>
              </a:rPr>
              <a:t> dolore magna </a:t>
            </a:r>
            <a:r>
              <a:rPr lang="en-GB" sz="1400" err="1">
                <a:latin typeface="Assistant" pitchFamily="2" charset="-79"/>
                <a:cs typeface="Assistant" pitchFamily="2" charset="-79"/>
              </a:rPr>
              <a:t>aliquam</a:t>
            </a:r>
            <a:r>
              <a:rPr lang="en-GB" sz="1400">
                <a:latin typeface="Assistant" pitchFamily="2" charset="-79"/>
                <a:cs typeface="Assistant" pitchFamily="2" charset="-79"/>
              </a:rPr>
              <a:t> </a:t>
            </a:r>
            <a:r>
              <a:rPr lang="en-GB" sz="1400" err="1">
                <a:latin typeface="Assistant" pitchFamily="2" charset="-79"/>
                <a:cs typeface="Assistant" pitchFamily="2" charset="-79"/>
              </a:rPr>
              <a:t>volutpat</a:t>
            </a:r>
            <a:r>
              <a:rPr lang="en-GB" sz="1400">
                <a:latin typeface="Assistant" pitchFamily="2" charset="-79"/>
                <a:cs typeface="Assistant" pitchFamily="2" charset="-79"/>
              </a:rPr>
              <a:t>. </a:t>
            </a:r>
          </a:p>
        </p:txBody>
      </p:sp>
      <p:sp>
        <p:nvSpPr>
          <p:cNvPr id="11" name="Tekstvak 8">
            <a:extLst>
              <a:ext uri="{FF2B5EF4-FFF2-40B4-BE49-F238E27FC236}">
                <a16:creationId xmlns:a16="http://schemas.microsoft.com/office/drawing/2014/main" id="{42EA234D-7D0F-41AA-A41A-BA750B534F8D}"/>
              </a:ext>
            </a:extLst>
          </p:cNvPr>
          <p:cNvSpPr txBox="1"/>
          <p:nvPr userDrawn="1"/>
        </p:nvSpPr>
        <p:spPr>
          <a:xfrm>
            <a:off x="6336501" y="4325152"/>
            <a:ext cx="4862210" cy="844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GB" sz="1400" b="1">
                <a:solidFill>
                  <a:srgbClr val="479EDB"/>
                </a:solidFill>
                <a:latin typeface="Assistant" pitchFamily="2" charset="-79"/>
                <a:cs typeface="Assistant" pitchFamily="2" charset="-79"/>
              </a:rPr>
              <a:t>Lorem ipsum </a:t>
            </a:r>
            <a:r>
              <a:rPr lang="en-GB" sz="1400" b="1" err="1">
                <a:solidFill>
                  <a:srgbClr val="479EDB"/>
                </a:solidFill>
                <a:latin typeface="Assistant" pitchFamily="2" charset="-79"/>
                <a:cs typeface="Assistant" pitchFamily="2" charset="-79"/>
              </a:rPr>
              <a:t>dolor</a:t>
            </a:r>
            <a:endParaRPr lang="en-GB" sz="1400" b="1">
              <a:solidFill>
                <a:srgbClr val="479EDB"/>
              </a:solidFill>
              <a:latin typeface="Assistant" pitchFamily="2" charset="-79"/>
              <a:cs typeface="Assistant" pitchFamily="2" charset="-79"/>
            </a:endParaRPr>
          </a:p>
          <a:p>
            <a:pPr>
              <a:lnSpc>
                <a:spcPts val="2000"/>
              </a:lnSpc>
            </a:pPr>
            <a:r>
              <a:rPr lang="en-GB" sz="1400">
                <a:latin typeface="Assistant" pitchFamily="2" charset="-79"/>
                <a:cs typeface="Assistant" pitchFamily="2" charset="-79"/>
              </a:rPr>
              <a:t>Sit amet, </a:t>
            </a:r>
            <a:r>
              <a:rPr lang="en-GB" sz="1400" err="1">
                <a:latin typeface="Assistant" pitchFamily="2" charset="-79"/>
                <a:cs typeface="Assistant" pitchFamily="2" charset="-79"/>
              </a:rPr>
              <a:t>consectetuer</a:t>
            </a:r>
            <a:r>
              <a:rPr lang="en-GB" sz="1400">
                <a:latin typeface="Assistant" pitchFamily="2" charset="-79"/>
                <a:cs typeface="Assistant" pitchFamily="2" charset="-79"/>
              </a:rPr>
              <a:t> </a:t>
            </a:r>
            <a:r>
              <a:rPr lang="en-GB" sz="1400" err="1">
                <a:latin typeface="Assistant" pitchFamily="2" charset="-79"/>
                <a:cs typeface="Assistant" pitchFamily="2" charset="-79"/>
              </a:rPr>
              <a:t>adipiscing</a:t>
            </a:r>
            <a:r>
              <a:rPr lang="en-GB" sz="1400">
                <a:latin typeface="Assistant" pitchFamily="2" charset="-79"/>
                <a:cs typeface="Assistant" pitchFamily="2" charset="-79"/>
              </a:rPr>
              <a:t> </a:t>
            </a:r>
            <a:r>
              <a:rPr lang="en-GB" sz="1400" err="1">
                <a:latin typeface="Assistant" pitchFamily="2" charset="-79"/>
                <a:cs typeface="Assistant" pitchFamily="2" charset="-79"/>
              </a:rPr>
              <a:t>elit</a:t>
            </a:r>
            <a:r>
              <a:rPr lang="en-GB" sz="1400">
                <a:latin typeface="Assistant" pitchFamily="2" charset="-79"/>
                <a:cs typeface="Assistant" pitchFamily="2" charset="-79"/>
              </a:rPr>
              <a:t>, </a:t>
            </a:r>
            <a:r>
              <a:rPr lang="en-GB" sz="1400" err="1">
                <a:latin typeface="Assistant" pitchFamily="2" charset="-79"/>
                <a:cs typeface="Assistant" pitchFamily="2" charset="-79"/>
              </a:rPr>
              <a:t>sed</a:t>
            </a:r>
            <a:r>
              <a:rPr lang="en-GB" sz="1400">
                <a:latin typeface="Assistant" pitchFamily="2" charset="-79"/>
                <a:cs typeface="Assistant" pitchFamily="2" charset="-79"/>
              </a:rPr>
              <a:t> </a:t>
            </a:r>
            <a:r>
              <a:rPr lang="en-GB" sz="1400" err="1">
                <a:latin typeface="Assistant" pitchFamily="2" charset="-79"/>
                <a:cs typeface="Assistant" pitchFamily="2" charset="-79"/>
              </a:rPr>
              <a:t>diam</a:t>
            </a:r>
            <a:r>
              <a:rPr lang="en-GB" sz="1400">
                <a:latin typeface="Assistant" pitchFamily="2" charset="-79"/>
                <a:cs typeface="Assistant" pitchFamily="2" charset="-79"/>
              </a:rPr>
              <a:t> </a:t>
            </a:r>
            <a:r>
              <a:rPr lang="en-GB" sz="1400" err="1">
                <a:latin typeface="Assistant" pitchFamily="2" charset="-79"/>
                <a:cs typeface="Assistant" pitchFamily="2" charset="-79"/>
              </a:rPr>
              <a:t>nommy</a:t>
            </a:r>
            <a:r>
              <a:rPr lang="en-GB" sz="1400">
                <a:latin typeface="Assistant" pitchFamily="2" charset="-79"/>
                <a:cs typeface="Assistant" pitchFamily="2" charset="-79"/>
              </a:rPr>
              <a:t> </a:t>
            </a:r>
            <a:r>
              <a:rPr lang="en-GB" sz="1400" err="1">
                <a:latin typeface="Assistant" pitchFamily="2" charset="-79"/>
                <a:cs typeface="Assistant" pitchFamily="2" charset="-79"/>
              </a:rPr>
              <a:t>nibh</a:t>
            </a:r>
            <a:r>
              <a:rPr lang="en-GB" sz="1400">
                <a:latin typeface="Assistant" pitchFamily="2" charset="-79"/>
                <a:cs typeface="Assistant" pitchFamily="2" charset="-79"/>
              </a:rPr>
              <a:t> </a:t>
            </a:r>
            <a:r>
              <a:rPr lang="en-GB" sz="1400" err="1">
                <a:latin typeface="Assistant" pitchFamily="2" charset="-79"/>
                <a:cs typeface="Assistant" pitchFamily="2" charset="-79"/>
              </a:rPr>
              <a:t>euismod</a:t>
            </a:r>
            <a:r>
              <a:rPr lang="en-GB" sz="1400">
                <a:latin typeface="Assistant" pitchFamily="2" charset="-79"/>
                <a:cs typeface="Assistant" pitchFamily="2" charset="-79"/>
              </a:rPr>
              <a:t> </a:t>
            </a:r>
            <a:r>
              <a:rPr lang="en-GB" sz="1400" err="1">
                <a:latin typeface="Assistant" pitchFamily="2" charset="-79"/>
                <a:cs typeface="Assistant" pitchFamily="2" charset="-79"/>
              </a:rPr>
              <a:t>tincidunt</a:t>
            </a:r>
            <a:r>
              <a:rPr lang="en-GB" sz="1400">
                <a:latin typeface="Assistant" pitchFamily="2" charset="-79"/>
                <a:cs typeface="Assistant" pitchFamily="2" charset="-79"/>
              </a:rPr>
              <a:t> </a:t>
            </a:r>
            <a:r>
              <a:rPr lang="en-GB" sz="1400" err="1">
                <a:latin typeface="Assistant" pitchFamily="2" charset="-79"/>
                <a:cs typeface="Assistant" pitchFamily="2" charset="-79"/>
              </a:rPr>
              <a:t>ut</a:t>
            </a:r>
            <a:r>
              <a:rPr lang="en-GB" sz="1400">
                <a:latin typeface="Assistant" pitchFamily="2" charset="-79"/>
                <a:cs typeface="Assistant" pitchFamily="2" charset="-79"/>
              </a:rPr>
              <a:t> </a:t>
            </a:r>
            <a:r>
              <a:rPr lang="en-GB" sz="1400" err="1">
                <a:latin typeface="Assistant" pitchFamily="2" charset="-79"/>
                <a:cs typeface="Assistant" pitchFamily="2" charset="-79"/>
              </a:rPr>
              <a:t>laoreet</a:t>
            </a:r>
            <a:r>
              <a:rPr lang="en-GB" sz="1400">
                <a:latin typeface="Assistant" pitchFamily="2" charset="-79"/>
                <a:cs typeface="Assistant" pitchFamily="2" charset="-79"/>
              </a:rPr>
              <a:t> dolore magna </a:t>
            </a:r>
            <a:r>
              <a:rPr lang="en-GB" sz="1400" err="1">
                <a:latin typeface="Assistant" pitchFamily="2" charset="-79"/>
                <a:cs typeface="Assistant" pitchFamily="2" charset="-79"/>
              </a:rPr>
              <a:t>aliquam</a:t>
            </a:r>
            <a:r>
              <a:rPr lang="en-GB" sz="1400">
                <a:latin typeface="Assistant" pitchFamily="2" charset="-79"/>
                <a:cs typeface="Assistant" pitchFamily="2" charset="-79"/>
              </a:rPr>
              <a:t> </a:t>
            </a:r>
            <a:r>
              <a:rPr lang="en-GB" sz="1400" err="1">
                <a:latin typeface="Assistant" pitchFamily="2" charset="-79"/>
                <a:cs typeface="Assistant" pitchFamily="2" charset="-79"/>
              </a:rPr>
              <a:t>volutpat</a:t>
            </a:r>
            <a:r>
              <a:rPr lang="en-GB" sz="1400">
                <a:latin typeface="Assistant" pitchFamily="2" charset="-79"/>
                <a:cs typeface="Assistant" pitchFamily="2" charset="-79"/>
              </a:rPr>
              <a:t>. </a:t>
            </a:r>
          </a:p>
        </p:txBody>
      </p:sp>
      <p:pic>
        <p:nvPicPr>
          <p:cNvPr id="12" name="Afbeelding 1">
            <a:extLst>
              <a:ext uri="{FF2B5EF4-FFF2-40B4-BE49-F238E27FC236}">
                <a16:creationId xmlns:a16="http://schemas.microsoft.com/office/drawing/2014/main" id="{071BA0D4-0B93-479D-85E8-08D60C5174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071044" y="1925617"/>
            <a:ext cx="191697" cy="191697"/>
          </a:xfrm>
          <a:prstGeom prst="rect">
            <a:avLst/>
          </a:prstGeom>
        </p:spPr>
      </p:pic>
      <p:pic>
        <p:nvPicPr>
          <p:cNvPr id="13" name="Afbeelding 11">
            <a:extLst>
              <a:ext uri="{FF2B5EF4-FFF2-40B4-BE49-F238E27FC236}">
                <a16:creationId xmlns:a16="http://schemas.microsoft.com/office/drawing/2014/main" id="{FA5003EA-07F9-4F25-A16B-DD53E728F81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071044" y="3162746"/>
            <a:ext cx="191697" cy="191697"/>
          </a:xfrm>
          <a:prstGeom prst="rect">
            <a:avLst/>
          </a:prstGeom>
        </p:spPr>
      </p:pic>
      <p:pic>
        <p:nvPicPr>
          <p:cNvPr id="14" name="Afbeelding 12">
            <a:extLst>
              <a:ext uri="{FF2B5EF4-FFF2-40B4-BE49-F238E27FC236}">
                <a16:creationId xmlns:a16="http://schemas.microsoft.com/office/drawing/2014/main" id="{EA323091-C82C-4E4C-90C9-DB5E85A1ACD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071044" y="4389118"/>
            <a:ext cx="191697" cy="191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7887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5F9CD-09B2-4288-8B0F-DFE0E5E61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30EFB-AB28-4A68-9CF2-24FEA7CF3D98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87B25-8A83-4C70-B2F1-C1832EC7B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8EA61-ADEF-44A4-A550-82FA30A08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0EB9D-8EC8-4EF4-9A95-65EE5F6F83A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CDD82BE-D135-C544-8C46-204EE67B6B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60963" y="1543050"/>
            <a:ext cx="5938837" cy="3602038"/>
          </a:xfrm>
        </p:spPr>
        <p:txBody>
          <a:bodyPr/>
          <a:lstStyle>
            <a:lvl1pPr marL="0" indent="0">
              <a:buNone/>
              <a:defRPr sz="14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19808647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D6DCD4-D09A-424D-BCF1-10D9CEB38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30EFB-AB28-4A68-9CF2-24FEA7CF3D98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A81BBE-0237-4A1F-BA6E-13DF7555F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FC6D35-11CD-4922-8A60-58D2E1AB6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0EB9D-8EC8-4EF4-9A95-65EE5F6F8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169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953DF0-B3E3-4CA0-901B-3E9940F70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47C2B6-AE5B-4C95-AFBB-4E4C0CAEA1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9343F-3D17-496B-B837-C1FFB896E4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30EFB-AB28-4A68-9CF2-24FEA7CF3D98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C3BB4-6034-4D3F-9DBD-013180527E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1F1FB-D371-4F1E-A37C-3BD40CF8FC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F0EB9D-8EC8-4EF4-9A95-65EE5F6F8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604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2" r:id="rId3"/>
    <p:sldLayoutId id="2147483667" r:id="rId4"/>
    <p:sldLayoutId id="2147483663" r:id="rId5"/>
    <p:sldLayoutId id="2147483650" r:id="rId6"/>
    <p:sldLayoutId id="2147483671" r:id="rId7"/>
    <p:sldLayoutId id="2147483670" r:id="rId8"/>
    <p:sldLayoutId id="2147483661" r:id="rId9"/>
    <p:sldLayoutId id="2147483664" r:id="rId10"/>
    <p:sldLayoutId id="2147483668" r:id="rId11"/>
    <p:sldLayoutId id="2147483665" r:id="rId12"/>
    <p:sldLayoutId id="2147483669" r:id="rId13"/>
    <p:sldLayoutId id="2147483666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poe.com/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openaipublic.blob.core.windows.net/neuron-explainer/paper/index.html#sec-intro" TargetMode="Externa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ground.tensorflow.org/#activation=tanh&amp;batchSize=10&amp;dataset=circle&amp;regDataset=reg-plane&amp;learningRate=0.03&amp;regularizationRate=0&amp;noise=0&amp;networkShape=&amp;seed=0.12629&amp;showTestData=false&amp;discretize=false&amp;percTrainData=50&amp;x=true&amp;y=true&amp;xTimesY=false&amp;xSquared=false&amp;ySquared=false&amp;cosX=false&amp;sinX=false&amp;cosY=false&amp;sinY=false&amp;collectStats=false&amp;problem=classification&amp;initZero=false&amp;hideText=false" TargetMode="External"/><Relationship Id="rId2" Type="http://schemas.openxmlformats.org/officeDocument/2006/relationships/hyperlink" Target="https://playground.tensorflow.org/#activation=tanh&amp;batchSize=10&amp;dataset=gauss&amp;regDataset=reg-plane&amp;learningRate=0.03&amp;regularizationRate=0&amp;noise=0&amp;networkShape=&amp;seed=0.2&amp;showTestData=false&amp;discretize=false&amp;percTrainData=50&amp;x=true&amp;y=true&amp;xTimesY=false&amp;xSquared=false&amp;ySquared=false&amp;cosX=false&amp;sinX=false&amp;cosY=false&amp;sinY=false&amp;collectStats=false&amp;problem=classification&amp;initZero=false&amp;hideText=false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playground.tensorflow.org/#activation=tanh&amp;batchSize=10&amp;dataset=circle&amp;regDataset=reg-plane&amp;learningRate=0.03&amp;regularizationRate=0&amp;noise=0&amp;networkShape=4&amp;seed=0.12629&amp;showTestData=false&amp;discretize=false&amp;percTrainData=50&amp;x=true&amp;y=true&amp;xTimesY=false&amp;xSquared=false&amp;ySquared=false&amp;cosX=false&amp;sinX=false&amp;cosY=false&amp;sinY=false&amp;collectStats=false&amp;problem=classification&amp;initZero=false&amp;hideText=false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channel/UCbfYPyITQ-7l4upoX8nvctg" TargetMode="External"/><Relationship Id="rId2" Type="http://schemas.openxmlformats.org/officeDocument/2006/relationships/hyperlink" Target="https://www.kaggle.com/competitions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course.fast.ai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BD5B28-127B-ED49-9A36-ACDB077425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Deep learning introduction</a:t>
            </a:r>
            <a:endParaRPr lang="nl-NL" sz="40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9A8FB24-66F2-CD40-9110-29C998D07826}"/>
              </a:ext>
            </a:extLst>
          </p:cNvPr>
          <p:cNvSpPr/>
          <p:nvPr/>
        </p:nvSpPr>
        <p:spPr>
          <a:xfrm>
            <a:off x="504202" y="1632247"/>
            <a:ext cx="153824" cy="16237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F00A9F4-098C-B844-A44E-8570C2B0B49A}"/>
              </a:ext>
            </a:extLst>
          </p:cNvPr>
          <p:cNvSpPr/>
          <p:nvPr/>
        </p:nvSpPr>
        <p:spPr>
          <a:xfrm>
            <a:off x="1370176" y="1632247"/>
            <a:ext cx="153824" cy="16237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5F81B410-429E-894E-A0FB-828F5310072B}"/>
              </a:ext>
            </a:extLst>
          </p:cNvPr>
          <p:cNvSpPr/>
          <p:nvPr/>
        </p:nvSpPr>
        <p:spPr>
          <a:xfrm flipV="1">
            <a:off x="-465746" y="2143760"/>
            <a:ext cx="2093719" cy="321322"/>
          </a:xfrm>
          <a:prstGeom prst="arc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7EE7ED9-66EF-8046-8053-D97D5CF4BB1D}"/>
              </a:ext>
            </a:extLst>
          </p:cNvPr>
          <p:cNvSpPr/>
          <p:nvPr/>
        </p:nvSpPr>
        <p:spPr>
          <a:xfrm>
            <a:off x="1442815" y="5095430"/>
            <a:ext cx="153824" cy="16237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6D93F0C-C716-1349-9682-ED2E57485DED}"/>
              </a:ext>
            </a:extLst>
          </p:cNvPr>
          <p:cNvSpPr/>
          <p:nvPr/>
        </p:nvSpPr>
        <p:spPr>
          <a:xfrm>
            <a:off x="2308789" y="5095430"/>
            <a:ext cx="153824" cy="16237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4F7B7EC-4AA0-0B48-965F-F4ADAE9F72B7}"/>
              </a:ext>
            </a:extLst>
          </p:cNvPr>
          <p:cNvSpPr/>
          <p:nvPr/>
        </p:nvSpPr>
        <p:spPr>
          <a:xfrm>
            <a:off x="10675121" y="3613447"/>
            <a:ext cx="153824" cy="16237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0870A7B-5DBC-A547-9A36-324332D28E9D}"/>
              </a:ext>
            </a:extLst>
          </p:cNvPr>
          <p:cNvSpPr/>
          <p:nvPr/>
        </p:nvSpPr>
        <p:spPr>
          <a:xfrm>
            <a:off x="11541095" y="3613447"/>
            <a:ext cx="153824" cy="16237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1038733-6188-C44A-9CC4-C165A201C98C}"/>
              </a:ext>
            </a:extLst>
          </p:cNvPr>
          <p:cNvSpPr/>
          <p:nvPr/>
        </p:nvSpPr>
        <p:spPr>
          <a:xfrm>
            <a:off x="10950723" y="2972512"/>
            <a:ext cx="475004" cy="34325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A822BE84-7C03-3D4D-9904-FFA71EECD481}"/>
              </a:ext>
            </a:extLst>
          </p:cNvPr>
          <p:cNvSpPr/>
          <p:nvPr/>
        </p:nvSpPr>
        <p:spPr>
          <a:xfrm flipV="1">
            <a:off x="395955" y="6372504"/>
            <a:ext cx="2093719" cy="321322"/>
          </a:xfrm>
          <a:prstGeom prst="arc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14" name="Subtitle 13">
            <a:extLst>
              <a:ext uri="{FF2B5EF4-FFF2-40B4-BE49-F238E27FC236}">
                <a16:creationId xmlns:a16="http://schemas.microsoft.com/office/drawing/2014/main" id="{98C3C173-C87A-664D-8DF3-9DDC5E646B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91515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08EBB-FEEE-FD44-A692-A0B5D2AF7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ChatGPT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82A76-AD79-764F-8EE7-EFB924115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https://poe.com/</a:t>
            </a:r>
            <a:endParaRPr lang="en-NL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9586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FD681-45F7-AD43-993C-36A4E7AF3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Rationale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4C5F3-E6CB-AA46-9A91-FC4425635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NL" dirty="0"/>
              <a:t>Provide you with just enough intuition about deep neural networks to start implementing them. </a:t>
            </a:r>
          </a:p>
          <a:p>
            <a:pPr marL="0" indent="0">
              <a:buNone/>
            </a:pPr>
            <a:r>
              <a:rPr lang="en-NL" dirty="0"/>
              <a:t>Then learn by doing.</a:t>
            </a:r>
          </a:p>
        </p:txBody>
      </p:sp>
    </p:spTree>
    <p:extLst>
      <p:ext uri="{BB962C8B-B14F-4D97-AF65-F5344CB8AC3E}">
        <p14:creationId xmlns:p14="http://schemas.microsoft.com/office/powerpoint/2010/main" val="2372184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9DAD3A-807C-A14A-878A-3B758B3C5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3384" y="0"/>
            <a:ext cx="6845232" cy="6833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515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90281-C763-6A4E-BD2C-30EDECB0F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The </a:t>
            </a:r>
            <a:r>
              <a:rPr lang="en-NL" i="1" dirty="0"/>
              <a:t>Neuron</a:t>
            </a:r>
          </a:p>
        </p:txBody>
      </p:sp>
      <p:pic>
        <p:nvPicPr>
          <p:cNvPr id="5" name="Picture 2" descr="A diagram of a single artificial neuron">
            <a:extLst>
              <a:ext uri="{FF2B5EF4-FFF2-40B4-BE49-F238E27FC236}">
                <a16:creationId xmlns:a16="http://schemas.microsoft.com/office/drawing/2014/main" id="{F47EAE6F-1020-6647-8C41-C12096955C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1353" y="1336826"/>
            <a:ext cx="8562447" cy="5156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8676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8718C34-52A2-1DB2-58DC-CB02014C48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45590"/>
            <a:ext cx="6277706" cy="32782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D43C96-53D3-1EE2-2CB6-698256DAA3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115" y="1345590"/>
            <a:ext cx="5460886" cy="32146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E7DDDE-B01D-6B03-6B30-1277B95714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7594" y="4006715"/>
            <a:ext cx="4299975" cy="285128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F14C3E0-C488-ADE2-3394-4E8598C27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NL" dirty="0"/>
              <a:t>The Activation Function</a:t>
            </a:r>
          </a:p>
        </p:txBody>
      </p:sp>
    </p:spTree>
    <p:extLst>
      <p:ext uri="{BB962C8B-B14F-4D97-AF65-F5344CB8AC3E}">
        <p14:creationId xmlns:p14="http://schemas.microsoft.com/office/powerpoint/2010/main" val="1940797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2866F-DFB5-EB62-01CC-E57FB0064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008CA-B788-FDCF-9BBF-FF650D73A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The </a:t>
            </a:r>
            <a:r>
              <a:rPr lang="en-NL" i="1" dirty="0"/>
              <a:t>Neuron</a:t>
            </a:r>
          </a:p>
        </p:txBody>
      </p:sp>
      <p:pic>
        <p:nvPicPr>
          <p:cNvPr id="5" name="Picture 2" descr="A diagram of a single artificial neuron">
            <a:extLst>
              <a:ext uri="{FF2B5EF4-FFF2-40B4-BE49-F238E27FC236}">
                <a16:creationId xmlns:a16="http://schemas.microsoft.com/office/drawing/2014/main" id="{D66EE055-AD07-6EED-1310-7686AB75BD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1353" y="1336826"/>
            <a:ext cx="8562447" cy="5156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6EE1013-39D4-969C-134A-2F5571983472}"/>
                  </a:ext>
                </a:extLst>
              </p:cNvPr>
              <p:cNvSpPr txBox="1"/>
              <p:nvPr/>
            </p:nvSpPr>
            <p:spPr>
              <a:xfrm>
                <a:off x="6096000" y="5076757"/>
                <a:ext cx="6093618" cy="8888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𝑎𝑐𝑡𝑖𝑣𝑎𝑡𝑖𝑜𝑛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 ∗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𝑏𝑖𝑎𝑠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800" b="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6EE1013-39D4-969C-134A-2F55719834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076757"/>
                <a:ext cx="6093618" cy="888833"/>
              </a:xfrm>
              <a:prstGeom prst="rect">
                <a:avLst/>
              </a:prstGeom>
              <a:blipFill>
                <a:blip r:embed="rId4"/>
                <a:stretch>
                  <a:fillRect t="-174648" b="-249296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8657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08EBB-FEEE-FD44-A692-A0B5D2AF7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/>
          <a:lstStyle/>
          <a:p>
            <a:r>
              <a:rPr lang="en-NL" dirty="0"/>
              <a:t>GPT-4 explaining what neurons do in GPT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82A76-AD79-764F-8EE7-EFB924115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6599"/>
            <a:ext cx="10515600" cy="4170363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Bills et al. (2023) trained GPT-4 to give explanations of what neurons in another GPT-4 network do: </a:t>
            </a:r>
          </a:p>
          <a:p>
            <a:pPr marL="0" indent="0">
              <a:buNone/>
            </a:pPr>
            <a:r>
              <a:rPr lang="en-GB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https://openaipublic.blob.core.windows.net/neuron-explainer/paper/index.html#sec-intro</a:t>
            </a:r>
            <a:endParaRPr lang="en-GB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NL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0663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90281-C763-6A4E-BD2C-30EDECB0F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EC29E7-3E58-9E45-8E75-0F40404EA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N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AA523C-9896-2142-90F8-93E6DCD57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09" y="761999"/>
            <a:ext cx="11176861" cy="5212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939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C0551-27C0-F540-9AA7-374AD10EC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Networks as a team of detectives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57255-3AE0-3E46-84C6-CE481FF6E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NL" dirty="0"/>
              <a:t>Each neuron has a certain expertise, focusing on particular patterns in the evidence (the input data)</a:t>
            </a:r>
          </a:p>
          <a:p>
            <a:r>
              <a:rPr lang="en-NL" dirty="0"/>
              <a:t>Together  they make a decision on who is guilty.</a:t>
            </a:r>
          </a:p>
        </p:txBody>
      </p:sp>
      <p:pic>
        <p:nvPicPr>
          <p:cNvPr id="1028" name="Picture 4" descr="The Ultimate Guide On How To Dress Up As A Detective – CluedUpp Games">
            <a:extLst>
              <a:ext uri="{FF2B5EF4-FFF2-40B4-BE49-F238E27FC236}">
                <a16:creationId xmlns:a16="http://schemas.microsoft.com/office/drawing/2014/main" id="{3C1F487F-4404-A943-8CD2-D18C5260F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335140"/>
            <a:ext cx="6096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376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three layer neural network with an input layer, one hidden layer, and an output layer.">
            <a:extLst>
              <a:ext uri="{FF2B5EF4-FFF2-40B4-BE49-F238E27FC236}">
                <a16:creationId xmlns:a16="http://schemas.microsoft.com/office/drawing/2014/main" id="{9CD5E5C4-814E-0092-58F0-5B4B816FC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4892" y="1305567"/>
            <a:ext cx="5604468" cy="5426549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77C52467-A5D3-5D65-8B68-890F4E366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NL" dirty="0"/>
              <a:t>The </a:t>
            </a:r>
            <a:r>
              <a:rPr lang="en-NL" i="1" dirty="0"/>
              <a:t>Neural Network</a:t>
            </a:r>
          </a:p>
        </p:txBody>
      </p:sp>
    </p:spTree>
    <p:extLst>
      <p:ext uri="{BB962C8B-B14F-4D97-AF65-F5344CB8AC3E}">
        <p14:creationId xmlns:p14="http://schemas.microsoft.com/office/powerpoint/2010/main" val="4231328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90281-C763-6A4E-BD2C-30EDECB0F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Why deep neural networks? Intuition.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EC29E7-3E58-9E45-8E75-0F40404EA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accent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 hidden layer, simple dataset</a:t>
            </a:r>
            <a:endParaRPr lang="en-GB" dirty="0">
              <a:solidFill>
                <a:schemeClr val="accent1"/>
              </a:solidFill>
            </a:endParaRPr>
          </a:p>
          <a:p>
            <a:r>
              <a:rPr lang="en-GB" dirty="0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 hidden layer, complex dataset</a:t>
            </a:r>
            <a:endParaRPr lang="en-GB" dirty="0">
              <a:solidFill>
                <a:schemeClr val="accent1"/>
              </a:solidFill>
            </a:endParaRPr>
          </a:p>
          <a:p>
            <a:r>
              <a:rPr lang="en-GB" dirty="0">
                <a:solidFill>
                  <a:schemeClr val="accent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Hidden layer, complex dataset</a:t>
            </a:r>
            <a:endParaRPr lang="en-GB" dirty="0">
              <a:solidFill>
                <a:schemeClr val="accent1"/>
              </a:solidFill>
            </a:endParaRPr>
          </a:p>
          <a:p>
            <a:endParaRPr lang="en-GB" dirty="0">
              <a:solidFill>
                <a:schemeClr val="accent1"/>
              </a:solidFill>
            </a:endParaRP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0209289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90281-C763-6A4E-BD2C-30EDECB0F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Deep vs shallow neural networks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EC29E7-3E58-9E45-8E75-0F40404EA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D9E7B6-8049-2A44-879B-ECFC9303C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238" y="2115344"/>
            <a:ext cx="789940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762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s a result of the optimization process, the different layers of a neural network tend to learn increasingly abstract representations of the input data.">
            <a:extLst>
              <a:ext uri="{FF2B5EF4-FFF2-40B4-BE49-F238E27FC236}">
                <a16:creationId xmlns:a16="http://schemas.microsoft.com/office/drawing/2014/main" id="{9CB4C877-3D88-5735-01A9-B6BEF13C4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09" y="738554"/>
            <a:ext cx="11489654" cy="4880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537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90281-C763-6A4E-BD2C-30EDECB0F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Example deep network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EC29E7-3E58-9E45-8E75-0F40404EA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52EAFA-7E94-6F4F-961E-7687FCE5BB26}"/>
              </a:ext>
            </a:extLst>
          </p:cNvPr>
          <p:cNvSpPr txBox="1"/>
          <p:nvPr/>
        </p:nvSpPr>
        <p:spPr>
          <a:xfrm>
            <a:off x="7567016" y="6474648"/>
            <a:ext cx="4740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From </a:t>
            </a:r>
            <a:r>
              <a:rPr lang="en-GB" dirty="0"/>
              <a:t>https://</a:t>
            </a:r>
            <a:r>
              <a:rPr lang="en-GB" dirty="0" err="1"/>
              <a:t>doi.org</a:t>
            </a:r>
            <a:r>
              <a:rPr lang="en-GB" dirty="0"/>
              <a:t>/10.48550/arXiv.1512.03385</a:t>
            </a:r>
            <a:endParaRPr lang="en-NL" dirty="0"/>
          </a:p>
        </p:txBody>
      </p:sp>
      <p:pic>
        <p:nvPicPr>
          <p:cNvPr id="2050" name="Picture 2" descr="An example of a deep neural network">
            <a:extLst>
              <a:ext uri="{FF2B5EF4-FFF2-40B4-BE49-F238E27FC236}">
                <a16:creationId xmlns:a16="http://schemas.microsoft.com/office/drawing/2014/main" id="{8EC65450-89DC-3B47-8CFB-2CE80DA20C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1167" y="1690688"/>
            <a:ext cx="9589666" cy="3906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40231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90281-C763-6A4E-BD2C-30EDECB0F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How do neural networks learn?</a:t>
            </a:r>
          </a:p>
        </p:txBody>
      </p:sp>
      <p:pic>
        <p:nvPicPr>
          <p:cNvPr id="2050" name="Picture 2" descr="Gradient Descent in Linear Regression | Introduction to Gradient Descent">
            <a:extLst>
              <a:ext uri="{FF2B5EF4-FFF2-40B4-BE49-F238E27FC236}">
                <a16:creationId xmlns:a16="http://schemas.microsoft.com/office/drawing/2014/main" id="{E74EFE1A-E285-4045-96A9-E7407D458C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8170" y="1477753"/>
            <a:ext cx="5455067" cy="4792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55997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A27A58D-10FF-8E3B-46FD-0852933040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9636" y="0"/>
            <a:ext cx="105715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282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DC5E5-35EA-6423-1F4C-01D423734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Pattern/object recognition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965CBF8-A761-75AC-4FFD-62B4753673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45880" y="1540953"/>
            <a:ext cx="4670181" cy="43335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EBBAA3-B46B-5B9B-7EAB-F8D3AB6319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369" y="1552742"/>
            <a:ext cx="4765431" cy="43218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628B3D-C79E-471D-1E95-A5A16B5372DB}"/>
              </a:ext>
            </a:extLst>
          </p:cNvPr>
          <p:cNvSpPr txBox="1"/>
          <p:nvPr/>
        </p:nvSpPr>
        <p:spPr>
          <a:xfrm>
            <a:off x="1028700" y="6308209"/>
            <a:ext cx="103251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COVID-Net: A Tailored Deep Convolutional Neural Network Design for Detection of COVID-19 Cases from Chest X-Ray Images, </a:t>
            </a:r>
            <a:r>
              <a:rPr lang="en-GB" sz="1400" dirty="0" err="1"/>
              <a:t>L.Wang</a:t>
            </a:r>
            <a:r>
              <a:rPr lang="en-GB" sz="1400" dirty="0"/>
              <a:t> et al., 2020, </a:t>
            </a:r>
            <a:r>
              <a:rPr lang="en-NL" sz="1400" dirty="0"/>
              <a:t>https://arxiv.org/pdf/2003.09871</a:t>
            </a:r>
          </a:p>
        </p:txBody>
      </p:sp>
    </p:spTree>
    <p:extLst>
      <p:ext uri="{BB962C8B-B14F-4D97-AF65-F5344CB8AC3E}">
        <p14:creationId xmlns:p14="http://schemas.microsoft.com/office/powerpoint/2010/main" val="38990689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76BF4-0D84-DCAE-C7A1-F372B8A4A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Example: energy load forecast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C288EB9-F03B-EEC1-6502-59B4A3D188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0123" y="1327651"/>
            <a:ext cx="6122377" cy="44897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4CEED7-933F-95E4-8E28-727C7F458EAC}"/>
              </a:ext>
            </a:extLst>
          </p:cNvPr>
          <p:cNvSpPr txBox="1"/>
          <p:nvPr/>
        </p:nvSpPr>
        <p:spPr>
          <a:xfrm>
            <a:off x="838200" y="6338986"/>
            <a:ext cx="112600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sz="1400" dirty="0"/>
              <a:t>Building Energy Load Forecasting using Deep Neural Networks, D.L. Marino et al., 2016</a:t>
            </a:r>
          </a:p>
        </p:txBody>
      </p:sp>
    </p:spTree>
    <p:extLst>
      <p:ext uri="{BB962C8B-B14F-4D97-AF65-F5344CB8AC3E}">
        <p14:creationId xmlns:p14="http://schemas.microsoft.com/office/powerpoint/2010/main" val="8009833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BDD9B-2B0E-4E71-95AA-B527A549A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Example: molecular dynamics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9316C51-3128-EC74-4771-D16AEBF689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2890" y="1825625"/>
            <a:ext cx="10326220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AF5166-17C9-246C-A5CB-9E75DDFFC77B}"/>
              </a:ext>
            </a:extLst>
          </p:cNvPr>
          <p:cNvSpPr txBox="1"/>
          <p:nvPr/>
        </p:nvSpPr>
        <p:spPr>
          <a:xfrm>
            <a:off x="932890" y="6311900"/>
            <a:ext cx="106490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1400" dirty="0"/>
              <a:t>The TensorMol-0.1 model chemistry: a neural network augmented with long-range physics, J.E. Herr, 2018, </a:t>
            </a:r>
            <a:r>
              <a:rPr lang="en-GB" sz="1400" dirty="0"/>
              <a:t>https://</a:t>
            </a:r>
            <a:r>
              <a:rPr lang="en-GB" sz="1400" dirty="0" err="1"/>
              <a:t>doi.org</a:t>
            </a:r>
            <a:r>
              <a:rPr lang="en-GB" sz="1400" dirty="0"/>
              <a:t>/10.1039/c7sc04934j</a:t>
            </a:r>
            <a:endParaRPr lang="en-NL" sz="1400" dirty="0"/>
          </a:p>
        </p:txBody>
      </p:sp>
    </p:spTree>
    <p:extLst>
      <p:ext uri="{BB962C8B-B14F-4D97-AF65-F5344CB8AC3E}">
        <p14:creationId xmlns:p14="http://schemas.microsoft.com/office/powerpoint/2010/main" val="15822210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5CAEB-29ED-8784-17D4-017E663B8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Processing images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582BF9-4544-B1C2-ACA7-416F009C29D8}"/>
              </a:ext>
            </a:extLst>
          </p:cNvPr>
          <p:cNvSpPr txBox="1"/>
          <p:nvPr/>
        </p:nvSpPr>
        <p:spPr>
          <a:xfrm>
            <a:off x="996462" y="6350425"/>
            <a:ext cx="111955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NL" sz="1400" b="1" dirty="0"/>
              <a:t>Ancient mural restoration based on a modified generative adversarial network, J. Cao et al., 2020, https://doi.org/10.1186/s40494-020-0355-x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273479-D107-A5A4-D8E8-8D7C003A28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462" y="1350652"/>
            <a:ext cx="11195538" cy="4999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3846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90281-C763-6A4E-BD2C-30EDECB0F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EC29E7-3E58-9E45-8E75-0F40404EA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A0FBF6-D668-6341-8AD7-20F61DB05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6553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1978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90281-C763-6A4E-BD2C-30EDECB0F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EC29E7-3E58-9E45-8E75-0F40404EA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N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A5210C-5C26-EA42-A338-D8336B93B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453"/>
            <a:ext cx="12192000" cy="6671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6274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41BBE-DD62-D342-894E-B8E488709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29040-3F6B-304F-BCCE-616AB32AA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0B5753-1E63-A742-9706-1467D9C77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9792"/>
            <a:ext cx="12192000" cy="6458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7331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08EBB-FEEE-FD44-A692-A0B5D2AF7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DNN: What is it good for?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82A76-AD79-764F-8EE7-EFB924115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NL" dirty="0"/>
              <a:t>What sort of problems can deep learning solve?</a:t>
            </a:r>
          </a:p>
          <a:p>
            <a:r>
              <a:rPr lang="en-NL" dirty="0"/>
              <a:t>Generating new data that looks similar to the training data, often used to create synthetic datasets, art, or deepfake videos. A recent famous example: chatGP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40CA0-D9B9-5F43-A3F1-637ADB2B7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0400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2346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F6A10-07D6-6144-BEEE-7D3F241BC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75731"/>
            <a:ext cx="10515600" cy="1325563"/>
          </a:xfrm>
        </p:spPr>
        <p:txBody>
          <a:bodyPr/>
          <a:lstStyle/>
          <a:p>
            <a:r>
              <a:rPr lang="en-NL" dirty="0"/>
              <a:t>What are examples that you have of deep learning applied to research?</a:t>
            </a:r>
          </a:p>
        </p:txBody>
      </p:sp>
    </p:spTree>
    <p:extLst>
      <p:ext uri="{BB962C8B-B14F-4D97-AF65-F5344CB8AC3E}">
        <p14:creationId xmlns:p14="http://schemas.microsoft.com/office/powerpoint/2010/main" val="37495483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83118-A5D3-A34A-BB3F-5E86F5298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sz="2400" dirty="0"/>
              <a:t>Example of Deep Learning applied to Research: MS2DeepScore: a novel deep learning similarity measure to compare tandem mass spectra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E7924-19D6-BD47-BB5F-0E957C51A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8F4B7C-41B0-5445-8228-EBD42A8C3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825" y="1690688"/>
            <a:ext cx="8538694" cy="504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6336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5CBAC-3F8C-B39E-EFF8-ADD1D757C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Problems deep learning </a:t>
            </a:r>
            <a:r>
              <a:rPr lang="en-NL" i="1" dirty="0"/>
              <a:t>cannot</a:t>
            </a:r>
            <a:r>
              <a:rPr lang="en-NL" dirty="0"/>
              <a:t> solve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CF84F-4FC2-0BD7-9C30-287BFA5D6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NL" dirty="0"/>
              <a:t>Any case where only a </a:t>
            </a:r>
            <a:r>
              <a:rPr lang="en-NL" b="1" dirty="0"/>
              <a:t>small amount of training data</a:t>
            </a:r>
            <a:r>
              <a:rPr lang="en-NL" dirty="0"/>
              <a:t> is available.</a:t>
            </a:r>
          </a:p>
          <a:p>
            <a:pPr lvl="0"/>
            <a:r>
              <a:rPr lang="en-NL" dirty="0"/>
              <a:t>Tasks requiring an </a:t>
            </a:r>
            <a:r>
              <a:rPr lang="en-NL" b="1" dirty="0"/>
              <a:t>explanation</a:t>
            </a:r>
            <a:r>
              <a:rPr lang="en-NL" dirty="0"/>
              <a:t> of how the answer was arrived at.</a:t>
            </a:r>
          </a:p>
          <a:p>
            <a:pPr lvl="0"/>
            <a:r>
              <a:rPr lang="en-NL" dirty="0"/>
              <a:t>Classifying things which are nothing like their training data.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8908890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5D903-15AA-24A3-0EE9-5B3B6D8F5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Problems for which DL is inefficient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A1261-6731-C36F-3095-BF92D8128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NL" b="1" dirty="0"/>
              <a:t>Logic operations</a:t>
            </a:r>
            <a:r>
              <a:rPr lang="en-NL" dirty="0"/>
              <a:t>, such as computing totals, averages, ranges etc.</a:t>
            </a:r>
          </a:p>
          <a:p>
            <a:pPr lvl="0"/>
            <a:r>
              <a:rPr lang="en-NL" dirty="0"/>
              <a:t>Modelling </a:t>
            </a:r>
            <a:r>
              <a:rPr lang="en-NL" b="1" dirty="0"/>
              <a:t>well defined systems</a:t>
            </a:r>
            <a:r>
              <a:rPr lang="en-NL" dirty="0"/>
              <a:t>, where the equations governing them are known and understood.</a:t>
            </a:r>
          </a:p>
          <a:p>
            <a:pPr lvl="0"/>
            <a:r>
              <a:rPr lang="en-NL" b="1" dirty="0"/>
              <a:t>Basic computer vision tasks</a:t>
            </a:r>
            <a:r>
              <a:rPr lang="en-NL" dirty="0"/>
              <a:t> such as, decreasing colour depth or blurring an image.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9225006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5C8718-F1F9-4F04-5935-4FDBF05AB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291" y="879231"/>
            <a:ext cx="11290477" cy="5533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321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CC784-43D6-6E48-B8E0-9231D01CD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Deep learning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D3278-DB3B-B640-82F8-F70DE5950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NL" sz="2400" dirty="0"/>
              <a:t>Formulate/outline the problem</a:t>
            </a:r>
          </a:p>
          <a:p>
            <a:pPr marL="514350" indent="-514350">
              <a:buFont typeface="+mj-lt"/>
              <a:buAutoNum type="arabicPeriod"/>
            </a:pPr>
            <a:r>
              <a:rPr lang="en-NL" sz="2400" dirty="0"/>
              <a:t>Identify inputs and outputs</a:t>
            </a:r>
          </a:p>
          <a:p>
            <a:pPr marL="514350" indent="-514350">
              <a:buFont typeface="+mj-lt"/>
              <a:buAutoNum type="arabicPeriod"/>
            </a:pPr>
            <a:r>
              <a:rPr lang="en-NL" sz="2400" dirty="0"/>
              <a:t>Prepare data</a:t>
            </a:r>
          </a:p>
          <a:p>
            <a:pPr marL="514350" indent="-514350">
              <a:buFont typeface="+mj-lt"/>
              <a:buAutoNum type="arabicPeriod"/>
            </a:pPr>
            <a:r>
              <a:rPr lang="en-NL" sz="2400" dirty="0"/>
              <a:t>Choose a pre-trained model or build a new architecture from scratch</a:t>
            </a:r>
          </a:p>
          <a:p>
            <a:pPr marL="514350" indent="-514350">
              <a:buFont typeface="+mj-lt"/>
              <a:buAutoNum type="arabicPeriod"/>
            </a:pPr>
            <a:r>
              <a:rPr lang="en-NL" sz="2400" dirty="0"/>
              <a:t>Choose a loss function and optimizer</a:t>
            </a:r>
          </a:p>
          <a:p>
            <a:pPr marL="514350" indent="-514350">
              <a:buFont typeface="+mj-lt"/>
              <a:buAutoNum type="arabicPeriod"/>
            </a:pPr>
            <a:r>
              <a:rPr lang="en-NL" sz="2400" dirty="0"/>
              <a:t>Train the model</a:t>
            </a:r>
          </a:p>
          <a:p>
            <a:pPr marL="514350" indent="-514350">
              <a:buFont typeface="+mj-lt"/>
              <a:buAutoNum type="arabicPeriod"/>
            </a:pPr>
            <a:r>
              <a:rPr lang="en-NL" sz="2400" dirty="0"/>
              <a:t>Perform a Prediction</a:t>
            </a:r>
          </a:p>
          <a:p>
            <a:pPr marL="514350" indent="-514350">
              <a:buFont typeface="+mj-lt"/>
              <a:buAutoNum type="arabicPeriod"/>
            </a:pPr>
            <a:r>
              <a:rPr lang="en-NL" sz="2400" dirty="0"/>
              <a:t>Measure Performance</a:t>
            </a:r>
          </a:p>
          <a:p>
            <a:pPr marL="514350" indent="-514350">
              <a:buFont typeface="+mj-lt"/>
              <a:buAutoNum type="arabicPeriod"/>
            </a:pPr>
            <a:r>
              <a:rPr lang="en-NL" sz="2400" dirty="0"/>
              <a:t>T</a:t>
            </a:r>
            <a:r>
              <a:rPr lang="en-GB" sz="2400" dirty="0"/>
              <a:t>u</a:t>
            </a:r>
            <a:r>
              <a:rPr lang="en-NL" sz="2400" dirty="0"/>
              <a:t>ne hyperparameters</a:t>
            </a:r>
          </a:p>
          <a:p>
            <a:pPr marL="514350" indent="-514350">
              <a:buFont typeface="+mj-lt"/>
              <a:buAutoNum type="arabicPeriod"/>
            </a:pPr>
            <a:r>
              <a:rPr lang="en-NL" sz="2400" dirty="0"/>
              <a:t>Share model</a:t>
            </a:r>
          </a:p>
        </p:txBody>
      </p:sp>
    </p:spTree>
    <p:extLst>
      <p:ext uri="{BB962C8B-B14F-4D97-AF65-F5344CB8AC3E}">
        <p14:creationId xmlns:p14="http://schemas.microsoft.com/office/powerpoint/2010/main" val="2978239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04EA714-4DB3-B44E-81E6-EA04C7630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216" y="268153"/>
            <a:ext cx="9756648" cy="6504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1713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DE148-09C8-FB41-BE57-5468D359C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A23C5-C760-1543-8E84-53068AEE6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BEDA8C-FD34-204D-8A95-7028B9257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4659"/>
            <a:ext cx="12192000" cy="6528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7158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8A294-82DB-6940-B5D1-3A62A8AE3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2FD91-B509-B648-8C9A-50129E010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CAC6A6-B5A0-5641-8472-0EA058784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12" y="0"/>
            <a:ext cx="120863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2478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8BF27-8134-D24A-80B0-35B6E6547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What have we learned?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A1A33-9504-3441-86C0-26CB1AC3D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L" dirty="0"/>
              <a:t>What deep learning is</a:t>
            </a:r>
          </a:p>
          <a:p>
            <a:r>
              <a:rPr lang="en-NL" dirty="0"/>
              <a:t>How neural networks work</a:t>
            </a:r>
          </a:p>
          <a:p>
            <a:r>
              <a:rPr lang="en-NL" dirty="0"/>
              <a:t>When to apply deep learning</a:t>
            </a:r>
          </a:p>
          <a:p>
            <a:r>
              <a:rPr lang="en-NL" dirty="0"/>
              <a:t>Applying deep learning with the ‘deep learning workflow’</a:t>
            </a:r>
          </a:p>
        </p:txBody>
      </p:sp>
    </p:spTree>
    <p:extLst>
      <p:ext uri="{BB962C8B-B14F-4D97-AF65-F5344CB8AC3E}">
        <p14:creationId xmlns:p14="http://schemas.microsoft.com/office/powerpoint/2010/main" val="5269461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8BF27-8134-D24A-80B0-35B6E6547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You are pioneers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A1A33-9504-3441-86C0-26CB1AC3D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3074" name="Picture 2" descr="Pioneer History and A Westward Expansion Timeline | FamilySearch">
            <a:extLst>
              <a:ext uri="{FF2B5EF4-FFF2-40B4-BE49-F238E27FC236}">
                <a16:creationId xmlns:a16="http://schemas.microsoft.com/office/drawing/2014/main" id="{E117A253-8787-D14C-AD5C-75F0D0CD8E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9282" y="-16412"/>
            <a:ext cx="6874412" cy="6874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55591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04C8F-F9C4-4C43-87F7-3EC1886B7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Check versions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07E6D-929E-1543-B68F-81F980324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1B8E5D-A0D1-1748-98EA-98DFDE760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9074" y="2392967"/>
            <a:ext cx="4699000" cy="28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6089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CDD10-87A3-074B-80C8-B54FADE00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69B94-83F9-354C-BE8A-09405778A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/>
              <a:t>Practice!</a:t>
            </a:r>
          </a:p>
          <a:p>
            <a:pPr lvl="1"/>
            <a:r>
              <a:rPr lang="en-GB" sz="2000" dirty="0"/>
              <a:t>For example try a Kaggle competition: </a:t>
            </a:r>
            <a:r>
              <a:rPr lang="en-GB" sz="2000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https://www.kaggle.com/competitions</a:t>
            </a:r>
            <a:endParaRPr lang="en-GB" sz="2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GB" sz="2400" dirty="0"/>
              <a:t>Read/watch blogs and videos</a:t>
            </a:r>
          </a:p>
          <a:p>
            <a:pPr lvl="1"/>
            <a:r>
              <a:rPr lang="en-GB" sz="2000" dirty="0"/>
              <a:t>For example: </a:t>
            </a:r>
            <a:r>
              <a:rPr lang="en-GB" sz="2000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2-minute papers</a:t>
            </a:r>
            <a:endParaRPr lang="en-GB" sz="2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GB" sz="2400" dirty="0"/>
              <a:t>F</a:t>
            </a:r>
            <a:r>
              <a:rPr lang="en-NL" sz="2400" dirty="0"/>
              <a:t>ast.ai course: making neural nets uncool again	</a:t>
            </a:r>
          </a:p>
          <a:p>
            <a:pPr lvl="1"/>
            <a:r>
              <a:rPr lang="en-GB" sz="2000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https://course.fast.ai/</a:t>
            </a:r>
            <a:endParaRPr lang="en-NL" sz="2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NL" sz="2400" dirty="0"/>
              <a:t>Try a quick and dirty approach first, then optimize</a:t>
            </a:r>
          </a:p>
          <a:p>
            <a:r>
              <a:rPr lang="en-NL" sz="2400" dirty="0"/>
              <a:t>Get acces to a GPU</a:t>
            </a:r>
          </a:p>
          <a:p>
            <a:pPr lvl="1"/>
            <a:r>
              <a:rPr lang="en-NL" sz="2000" dirty="0"/>
              <a:t>If experiments take seconds instead of 20 minutes, you can iterate over hypothesis -&gt; experiment -&gt; conclusion much much quicker</a:t>
            </a:r>
          </a:p>
          <a:p>
            <a:endParaRPr lang="en-NL" sz="2400" dirty="0"/>
          </a:p>
        </p:txBody>
      </p:sp>
    </p:spTree>
    <p:extLst>
      <p:ext uri="{BB962C8B-B14F-4D97-AF65-F5344CB8AC3E}">
        <p14:creationId xmlns:p14="http://schemas.microsoft.com/office/powerpoint/2010/main" val="633780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Science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9DDD"/>
      </a:accent1>
      <a:accent2>
        <a:srgbClr val="380338"/>
      </a:accent2>
      <a:accent3>
        <a:srgbClr val="FFB213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DDD"/>
      </a:folHlink>
    </a:clrScheme>
    <a:fontScheme name="Custom 2">
      <a:majorFont>
        <a:latin typeface="Nunito"/>
        <a:ea typeface=""/>
        <a:cs typeface=""/>
      </a:majorFont>
      <a:minorFont>
        <a:latin typeface="Assistan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bccc4ca-e175-4642-95d3-c6632d06f78c">
      <UserInfo>
        <DisplayName>Vliet, M.H.M. van (PHEG)</DisplayName>
        <AccountId>165</AccountId>
        <AccountType/>
      </UserInfo>
      <UserInfo>
        <DisplayName>Kristell</DisplayName>
        <AccountId>51</AccountId>
        <AccountType/>
      </UserInfo>
      <UserInfo>
        <DisplayName>Nele Albers</DisplayName>
        <AccountId>126</AccountId>
        <AccountType/>
      </UserInfo>
      <UserInfo>
        <DisplayName>Bouke Scheltinga</DisplayName>
        <AccountId>143</AccountId>
        <AccountType/>
      </UserInfo>
      <UserInfo>
        <DisplayName>Djura Smits</DisplayName>
        <AccountId>16</AccountId>
        <AccountType/>
      </UserInfo>
    </SharedWithUsers>
    <MediaLengthInSeconds xmlns="375943d0-1737-420d-abae-750e225a1f6c" xsi:nil="true"/>
    <lcf76f155ced4ddcb4097134ff3c332f xmlns="375943d0-1737-420d-abae-750e225a1f6c">
      <Terms xmlns="http://schemas.microsoft.com/office/infopath/2007/PartnerControls"/>
    </lcf76f155ced4ddcb4097134ff3c332f>
    <TaxCatchAll xmlns="dbccc4ca-e175-4642-95d3-c6632d06f78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C9242AECD975D4DA7B237C2E1E764BE" ma:contentTypeVersion="18" ma:contentTypeDescription="Create a new document." ma:contentTypeScope="" ma:versionID="c9620fd420ee61cd62aa5aa089c8bfc9">
  <xsd:schema xmlns:xsd="http://www.w3.org/2001/XMLSchema" xmlns:xs="http://www.w3.org/2001/XMLSchema" xmlns:p="http://schemas.microsoft.com/office/2006/metadata/properties" xmlns:ns2="375943d0-1737-420d-abae-750e225a1f6c" xmlns:ns3="dbccc4ca-e175-4642-95d3-c6632d06f78c" targetNamespace="http://schemas.microsoft.com/office/2006/metadata/properties" ma:root="true" ma:fieldsID="31d70048afbca6ce07e7501ebdfe45f5" ns2:_="" ns3:_="">
    <xsd:import namespace="375943d0-1737-420d-abae-750e225a1f6c"/>
    <xsd:import namespace="dbccc4ca-e175-4642-95d3-c6632d06f78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5943d0-1737-420d-abae-750e225a1f6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c0ad629c-0c64-4cfd-a7c6-02f1c6e495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ccc4ca-e175-4642-95d3-c6632d06f78c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ba9bfee0-987d-4126-a462-19846f6d7e75}" ma:internalName="TaxCatchAll" ma:showField="CatchAllData" ma:web="dbccc4ca-e175-4642-95d3-c6632d06f78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0FF6FBF-B4F4-49AD-A88B-091F94ABFAFA}">
  <ds:schemaRefs>
    <ds:schemaRef ds:uri="26898810-f9b9-406f-8188-8f8f7cdf5520"/>
    <ds:schemaRef ds:uri="http://purl.org/dc/dcmitype/"/>
    <ds:schemaRef ds:uri="http://purl.org/dc/terms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af34c8a9-9806-44d6-aa44-d772f2793323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1F7D542-5668-4A98-9647-B160DC4C826E}"/>
</file>

<file path=customXml/itemProps3.xml><?xml version="1.0" encoding="utf-8"?>
<ds:datastoreItem xmlns:ds="http://schemas.openxmlformats.org/officeDocument/2006/customXml" ds:itemID="{B72CECC3-7DC2-48A3-A34C-CF77ADEDD29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51669</TotalTime>
  <Words>749</Words>
  <Application>Microsoft Macintosh PowerPoint</Application>
  <PresentationFormat>Widescreen</PresentationFormat>
  <Paragraphs>95</Paragraphs>
  <Slides>38</Slides>
  <Notes>12</Notes>
  <HiddenSlides>9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Cambria Math</vt:lpstr>
      <vt:lpstr>Nunito</vt:lpstr>
      <vt:lpstr>Assistant</vt:lpstr>
      <vt:lpstr>Arial</vt:lpstr>
      <vt:lpstr>Calibri</vt:lpstr>
      <vt:lpstr>Office Theme</vt:lpstr>
      <vt:lpstr>Deep learning introduction</vt:lpstr>
      <vt:lpstr>ChatGPT</vt:lpstr>
      <vt:lpstr>Rationale</vt:lpstr>
      <vt:lpstr>PowerPoint Presentation</vt:lpstr>
      <vt:lpstr>The Neuron</vt:lpstr>
      <vt:lpstr>The Activation Function</vt:lpstr>
      <vt:lpstr>The Neuron</vt:lpstr>
      <vt:lpstr>GPT-4 explaining what neurons do in GPT</vt:lpstr>
      <vt:lpstr>PowerPoint Presentation</vt:lpstr>
      <vt:lpstr>Networks as a team of detectives</vt:lpstr>
      <vt:lpstr>The Neural Network</vt:lpstr>
      <vt:lpstr>Why deep neural networks? Intuition.</vt:lpstr>
      <vt:lpstr>Deep vs shallow neural networks</vt:lpstr>
      <vt:lpstr>PowerPoint Presentation</vt:lpstr>
      <vt:lpstr>Example deep network</vt:lpstr>
      <vt:lpstr>How do neural networks learn?</vt:lpstr>
      <vt:lpstr>PowerPoint Presentation</vt:lpstr>
      <vt:lpstr>Pattern/object recognition</vt:lpstr>
      <vt:lpstr>Example: energy load forecast</vt:lpstr>
      <vt:lpstr>Example: molecular dynamics</vt:lpstr>
      <vt:lpstr>Processing images</vt:lpstr>
      <vt:lpstr>PowerPoint Presentation</vt:lpstr>
      <vt:lpstr>PowerPoint Presentation</vt:lpstr>
      <vt:lpstr>PowerPoint Presentation</vt:lpstr>
      <vt:lpstr>DNN: What is it good for?</vt:lpstr>
      <vt:lpstr>What are examples that you have of deep learning applied to research?</vt:lpstr>
      <vt:lpstr>Example of Deep Learning applied to Research: MS2DeepScore: a novel deep learning similarity measure to compare tandem mass spectra</vt:lpstr>
      <vt:lpstr>Problems deep learning cannot solve</vt:lpstr>
      <vt:lpstr>Problems for which DL is inefficient</vt:lpstr>
      <vt:lpstr>PowerPoint Presentation</vt:lpstr>
      <vt:lpstr>Deep learning workflow</vt:lpstr>
      <vt:lpstr>PowerPoint Presentation</vt:lpstr>
      <vt:lpstr>PowerPoint Presentation</vt:lpstr>
      <vt:lpstr>PowerPoint Presentation</vt:lpstr>
      <vt:lpstr>What have we learned?</vt:lpstr>
      <vt:lpstr>You are pioneers</vt:lpstr>
      <vt:lpstr>Check versions</vt:lpstr>
      <vt:lpstr>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Netherlands eScience Center</dc:title>
  <dc:creator>Ben van Werkhoven</dc:creator>
  <cp:lastModifiedBy>Carsten Schnober</cp:lastModifiedBy>
  <cp:revision>7</cp:revision>
  <dcterms:created xsi:type="dcterms:W3CDTF">2021-07-14T12:30:17Z</dcterms:created>
  <dcterms:modified xsi:type="dcterms:W3CDTF">2026-09-22T09:30:48Z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0x0101008C9242AECD975D4DA7B237C2E1E764BE</vt:lpwstr>
  </property>
  <property fmtid="{D5CDD505-2E9C-101B-9397-08002B2CF9AE}" pid="3" name="Order">
    <vt:r8>55400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</Properties>
</file>